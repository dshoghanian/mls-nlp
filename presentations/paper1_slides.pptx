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D4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428A"/>
                </a:solidFill>
              </a:rPr>
              <a:t>NARRATIVE CENTRALITY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D1A33"/>
                </a:solidFill>
              </a:rPr>
              <a:t>&amp; Competitive Outcomes
in Major League Soccer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14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45577"/>
                </a:solidFill>
              </a:rPr>
              <a:t>Why Press Coverage Predicts Playoffs but Not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383280"/>
            <a:ext cx="246888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345643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7,236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330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Press Articles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3383280"/>
            <a:ext cx="246888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345643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186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41330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Club-Season Obs.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3383280"/>
            <a:ext cx="246888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97879" y="345643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79" y="41330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MLS Clubs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3383280"/>
            <a:ext cx="246888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49640" y="345643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2018–24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1330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7 Seasons of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92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77"/>
                </a:solidFill>
              </a:rPr>
              <a:t>Shoghanian &amp; Tang  ·  Target: Journal of Sports Analytics / ESMQ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2880" y="6574536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BCCFF"/>
                </a:solidFill>
              </a:rPr>
              <a:t>MLS NLP Project  ·  Dante  ·  Wilson  ·  Faisal  ·  Fidel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D1A33"/>
                </a:solidFill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577"/>
                </a:solidFill>
              </a:rPr>
              <a:t>Does press coverage tell us which MLS clubs will compete — and how?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53312"/>
            <a:ext cx="11338560" cy="2743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74536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BCCFF"/>
                </a:solidFill>
              </a:rPr>
              <a:t>MLS NLP Project  ·  Dante  ·  Wilson  ·  Faisal  ·  Fidel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3566160" cy="2103120"/>
          </a:xfrm>
          <a:prstGeom prst="rect">
            <a:avLst/>
          </a:prstGeom>
          <a:solidFill>
            <a:srgbClr val="F7F8FC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618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45577"/>
                </a:solidFill>
              </a:rPr>
              <a:t>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428A"/>
                </a:solidFill>
              </a:rPr>
              <a:t>EPL Has an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77"/>
                </a:solidFill>
              </a:rPr>
              <a:t>Our prior EPL research found narrative centrality predicts points per game — even after controlling for transfer spending.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508760"/>
            <a:ext cx="3566160" cy="2103120"/>
          </a:xfrm>
          <a:prstGeom prst="rect">
            <a:avLst/>
          </a:prstGeom>
          <a:solidFill>
            <a:srgbClr val="F7F8FC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1618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45577"/>
                </a:solidFill>
              </a:rPr>
              <a:t>🏗️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1031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428A"/>
                </a:solidFill>
              </a:rPr>
              <a:t>MLS is Different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4688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77"/>
                </a:solidFill>
              </a:rPr>
              <a:t>Hard salary cap, single-entity structure, playoff format. Financial resources are deliberately compressed by design.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1508760"/>
            <a:ext cx="3840480" cy="2103120"/>
          </a:xfrm>
          <a:prstGeom prst="rect">
            <a:avLst/>
          </a:prstGeom>
          <a:solidFill>
            <a:srgbClr val="F7F8FC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0" y="1618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45577"/>
                </a:solidFill>
              </a:rPr>
              <a:t>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10312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428A"/>
                </a:solidFill>
              </a:rPr>
              <a:t>So What Changes?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4688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77"/>
                </a:solidFill>
              </a:rPr>
              <a:t>If spending is capped and competition is compressed, does press narrative still matter — and for which outcomes?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794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</a:rPr>
              <a:t>THREE HYPOTHESES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160520"/>
            <a:ext cx="11338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0D1A33"/>
                </a:solidFill>
              </a:defRPr>
            </a:pPr>
            <a:r>
              <a:t>H1  Press narrative centrality does NOT predict next-season points in MLS</a:t>
            </a:r>
          </a:p>
          <a:p>
            <a:pPr>
              <a:spcAft>
                <a:spcPts val="500"/>
              </a:spcAft>
              <a:defRPr sz="1300">
                <a:solidFill>
                  <a:srgbClr val="0D1A33"/>
                </a:solidFill>
              </a:defRPr>
            </a:pPr>
            <a:r>
              <a:t>H2  Press narrative centrality DOES predict same-season playoff qualification</a:t>
            </a:r>
          </a:p>
          <a:p>
            <a:pPr>
              <a:spcAft>
                <a:spcPts val="500"/>
              </a:spcAft>
              <a:defRPr sz="1300">
                <a:solidFill>
                  <a:srgbClr val="0D1A33"/>
                </a:solidFill>
              </a:defRPr>
            </a:pPr>
            <a:r>
              <a:t>H3  The difference is explained by the salary cap compressing performance variance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D1A33"/>
                </a:solidFill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577"/>
                </a:solidFill>
              </a:rPr>
              <a:t>An end-to-end NLP pipeline from 7,236 articles to a 186-observation analysis panel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53312"/>
            <a:ext cx="11338560" cy="2743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74536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BCCFF"/>
                </a:solidFill>
              </a:rPr>
              <a:t>MLS NLP Project  ·  Dante  ·  Wilson  ·  Faisal  ·  Fidel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2103120" cy="256032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8102E"/>
                </a:solidFill>
              </a:rPr>
              <a:t>PRESS ARTICLES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29968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FF"/>
                </a:solidFill>
              </a:rPr>
              <a:t>7,236 articles
2018–2024
MLS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39" y="2468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8102E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39" y="1508760"/>
            <a:ext cx="2103120" cy="256032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97479" y="16002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8102E"/>
                </a:solidFill>
              </a:rPr>
              <a:t>NER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2029968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FF"/>
                </a:solidFill>
              </a:rPr>
              <a:t>spaCy entity
extraction
club + player mentions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468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8102E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59" y="1508760"/>
            <a:ext cx="2103120" cy="256032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199" y="16002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8102E"/>
                </a:solidFill>
              </a:rPr>
              <a:t>CO-OCC 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199" y="2029968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FF"/>
                </a:solidFill>
              </a:rPr>
              <a:t>Annual club
co-occurrence
graph (networkx)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79" y="2468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8102E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79" y="1508760"/>
            <a:ext cx="2103120" cy="256032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60919" y="16002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8102E"/>
                </a:solidFill>
              </a:rPr>
              <a:t>CENTRALITY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19" y="2029968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FF"/>
                </a:solidFill>
              </a:rPr>
              <a:t>PageRank,
degree, strength
per club per year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468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8102E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1508760"/>
            <a:ext cx="2103120" cy="256032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40" y="16002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8102E"/>
                </a:solidFill>
              </a:rPr>
              <a:t>PANEL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029968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FF"/>
                </a:solidFill>
              </a:rPr>
              <a:t>186 obs
29 clubs × 7 yrs
+ performance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251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28A"/>
                </a:solidFill>
              </a:rPr>
              <a:t>KEY MEASURE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61772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1A33"/>
                </a:solidFill>
              </a:rPr>
              <a:t>press_strength_z  =  within-year z-score of total co-occurrence edge weight
Captures where a club sits in the discourse ecosystem relative to its peers that season — not just how often it's mentioned.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D1A33"/>
                </a:solidFill>
              </a:rPr>
              <a:t>Two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577"/>
                </a:solidFill>
              </a:rPr>
              <a:t>One for continuous performance (points), one for the binary threshold (playoffs)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53312"/>
            <a:ext cx="11338560" cy="2743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74536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BCCFF"/>
                </a:solidFill>
              </a:rPr>
              <a:t>MLS NLP Project  ·  Dante  ·  Wilson  ·  Faisal  ·  Fidel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5394960" cy="4480560"/>
          </a:xfrm>
          <a:prstGeom prst="rect">
            <a:avLst/>
          </a:prstGeom>
          <a:solidFill>
            <a:srgbClr val="F7F8FC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28A"/>
                </a:solidFill>
              </a:rPr>
              <a:t>MODEL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A33"/>
                </a:solidFill>
              </a:rPr>
              <a:t>Next-Season Points (OLS)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445577"/>
                </a:solidFill>
              </a:defRPr>
            </a:pPr>
            <a:r>
              <a:t>points(t+1) = narrative + controls + Club FE + Year FE</a:t>
            </a:r>
          </a:p>
          <a:p>
            <a:pPr>
              <a:spcAft>
                <a:spcPts val="500"/>
              </a:spcAft>
              <a:defRPr sz="1200">
                <a:solidFill>
                  <a:srgbClr val="445577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200">
                <a:solidFill>
                  <a:srgbClr val="445577"/>
                </a:solidFill>
              </a:defRPr>
            </a:pPr>
            <a:r>
              <a:t>3 specs: naive → add fixed effects → add xPoints + payroll</a:t>
            </a:r>
          </a:p>
          <a:p>
            <a:pPr>
              <a:spcAft>
                <a:spcPts val="500"/>
              </a:spcAft>
              <a:defRPr sz="1200">
                <a:solidFill>
                  <a:srgbClr val="445577"/>
                </a:solidFill>
              </a:defRPr>
            </a:pPr>
            <a:r>
              <a:t>HC1 robust standard errors throughout</a:t>
            </a:r>
          </a:p>
          <a:p>
            <a:pPr>
              <a:spcAft>
                <a:spcPts val="500"/>
              </a:spcAft>
              <a:defRPr sz="1200">
                <a:solidFill>
                  <a:srgbClr val="445577"/>
                </a:solidFill>
              </a:defRPr>
            </a:pPr>
            <a:r>
              <a:t>LOYO cross-validation for temporal robustness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508760"/>
            <a:ext cx="5394960" cy="4480560"/>
          </a:xfrm>
          <a:prstGeom prst="rect">
            <a:avLst/>
          </a:prstGeom>
          <a:solidFill>
            <a:srgbClr val="F7F8FC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28A"/>
                </a:solidFill>
              </a:rPr>
              <a:t>MODEL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A33"/>
                </a:solidFill>
              </a:rPr>
              <a:t>Playoff Qualification (Logit)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423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445577"/>
                </a:solidFill>
              </a:defRPr>
            </a:pPr>
            <a:r>
              <a:t>P(playoff) = narrative + xPoints + Year FE</a:t>
            </a:r>
          </a:p>
          <a:p>
            <a:pPr>
              <a:spcAft>
                <a:spcPts val="500"/>
              </a:spcAft>
              <a:defRPr sz="1200">
                <a:solidFill>
                  <a:srgbClr val="445577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200">
                <a:solidFill>
                  <a:srgbClr val="445577"/>
                </a:solidFill>
              </a:defRPr>
            </a:pPr>
            <a:r>
              <a:t>Club FE excluded (incidental parameters problem)</a:t>
            </a:r>
          </a:p>
          <a:p>
            <a:pPr>
              <a:spcAft>
                <a:spcPts val="500"/>
              </a:spcAft>
              <a:defRPr sz="1200">
                <a:solidFill>
                  <a:srgbClr val="445577"/>
                </a:solidFill>
              </a:defRPr>
            </a:pPr>
            <a:r>
              <a:t>Report marginal effects at the mean</a:t>
            </a:r>
          </a:p>
          <a:p>
            <a:pPr>
              <a:spcAft>
                <a:spcPts val="500"/>
              </a:spcAft>
              <a:defRPr sz="1200">
                <a:solidFill>
                  <a:srgbClr val="445577"/>
                </a:solidFill>
              </a:defRPr>
            </a:pPr>
            <a:r>
              <a:t>LOYO: accuracy + AUC per held-out season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D1A33"/>
                </a:solidFill>
              </a:rPr>
              <a:t>Finding 1: Narrative Does Not Predict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577"/>
                </a:solidFill>
              </a:rPr>
              <a:t>Press centrality carries no signal for next-season points — across any specification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53312"/>
            <a:ext cx="11338560" cy="2743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74536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BCCFF"/>
                </a:solidFill>
              </a:rPr>
              <a:t>MLS NLP Project  ·  Dante  ·  Wilson  ·  Faisal  ·  Fidel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274320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5819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0.140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585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Naive R² (Model A1)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508760"/>
            <a:ext cx="274320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5819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0.661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2585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R² with Club + Year FE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508760"/>
            <a:ext cx="274320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5819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−1.006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585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LOYO Mean R²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508760"/>
            <a:ext cx="265176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0" y="1581912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n.s.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25856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press_strength_z (all specs)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017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28A"/>
                </a:solidFill>
              </a:rPr>
              <a:t>WHAT THIS MEANS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401568"/>
            <a:ext cx="11338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Adding club and year fixed effects (A2) captures most of the variance — club identity matters more than narrative</a:t>
            </a:r>
          </a:p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Once we control for xPoints and payroll (A3), squad quality and spending explain the rest</a:t>
            </a:r>
          </a:p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press_strength_z is non-significant in every single specification — this null result is robust</a:t>
            </a:r>
          </a:p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LOYO R² of −1.006 confirms the model doesn't generalize out-of-sample either</a:t>
            </a:r>
          </a:p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Conclusion: in a salary-capped league, narrative alone cannot reliably predict a club's points total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D1A33"/>
                </a:solidFill>
              </a:rPr>
              <a:t>Finding 2: Narrative Does Predict Playoff Qualification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577"/>
                </a:solidFill>
              </a:rPr>
              <a:t>A 1 SD increase in press centrality raises the probability of making the playoffs by 82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53312"/>
            <a:ext cx="11338560" cy="2743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74536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BCCFF"/>
                </a:solidFill>
              </a:rPr>
              <a:t>MLS NLP Project  ·  Dante  ·  Wilson  ·  Faisal  ·  Fidel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274320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5819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4.82*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585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press_strength_z β
(B3, p=.048)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508760"/>
            <a:ext cx="274320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5819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82pp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2585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Marginal Effect
at the mean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508760"/>
            <a:ext cx="274320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5819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0.747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585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LOYO Mean AUC
(7 seasons)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508760"/>
            <a:ext cx="265176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0" y="1581912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0.779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25856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Mean AUC
excluding 2020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017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28A"/>
                </a:solidFill>
              </a:rPr>
              <a:t>ACROSS ALL THREE LOGIT SPECS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401568"/>
            <a:ext cx="11338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B1 (naive):        β=4.26, p=.026 — significant even without any controls</a:t>
            </a:r>
          </a:p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B2 (+ year FE):    β=5.75, p=.009 — effect strengthens when we account for league-wide year shifts</a:t>
            </a:r>
          </a:p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B3 (+ xPoints):    β=4.82, p=.048 — survives controlling for actual squad quality</a:t>
            </a:r>
          </a:p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xPoints is the strongest predictor (β=0.132, p&lt;.001) — narrative adds on top of talent, not instead of it</a:t>
            </a:r>
          </a:p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LOYO AUC range: 0.564 in 2020 (COVID disruption) to 0.917 in the best fold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D1A33"/>
                </a:solidFill>
              </a:rPr>
              <a:t>Why Playoffs but Not Points?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577"/>
                </a:solidFill>
              </a:rPr>
              <a:t>The MLS salary cap changes what narrative can and cannot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53312"/>
            <a:ext cx="11338560" cy="2743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74536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BCCFF"/>
                </a:solidFill>
              </a:rPr>
              <a:t>MLS NLP Project  ·  Dante  ·  Wilson  ·  Faisal  ·  Fidel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5394960" cy="4480560"/>
          </a:xfrm>
          <a:prstGeom prst="rect">
            <a:avLst/>
          </a:prstGeom>
          <a:solidFill>
            <a:srgbClr val="F7F8FC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276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</a:rPr>
              <a:t>THRESHOLD MECHANISM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1A33"/>
                </a:solidFill>
              </a:rPr>
              <a:t>The playoffs are a binary cliff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445577"/>
                </a:solidFill>
              </a:defRPr>
            </a:pPr>
            <a:r>
              <a:t>~55% of teams make the playoffs — a binary pass/fail</a:t>
            </a:r>
          </a:p>
          <a:p>
            <a:pPr>
              <a:spcAft>
                <a:spcPts val="500"/>
              </a:spcAft>
              <a:defRPr sz="1200">
                <a:solidFill>
                  <a:srgbClr val="445577"/>
                </a:solidFill>
              </a:defRPr>
            </a:pPr>
            <a:r>
              <a:t>Narrative centrality helps attract DPs, retain fans, maintain partnerships</a:t>
            </a:r>
          </a:p>
          <a:p>
            <a:pPr>
              <a:spcAft>
                <a:spcPts val="500"/>
              </a:spcAft>
              <a:defRPr sz="1200">
                <a:solidFill>
                  <a:srgbClr val="445577"/>
                </a:solidFill>
              </a:defRPr>
            </a:pPr>
            <a:r>
              <a:t>Those marginal advantages are just enough to clear the threshold...</a:t>
            </a:r>
          </a:p>
          <a:p>
            <a:pPr>
              <a:spcAft>
                <a:spcPts val="500"/>
              </a:spcAft>
              <a:defRPr sz="1200">
                <a:solidFill>
                  <a:srgbClr val="445577"/>
                </a:solidFill>
              </a:defRPr>
            </a:pPr>
            <a:r>
              <a:t>...but not enough to push from mid-table to top in a cap world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508760"/>
            <a:ext cx="5394960" cy="4480560"/>
          </a:xfrm>
          <a:prstGeom prst="rect">
            <a:avLst/>
          </a:prstGeom>
          <a:solidFill>
            <a:srgbClr val="F7F8FC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6276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</a:rPr>
              <a:t>VARIANCE COMPRESSION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11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1A33"/>
                </a:solidFill>
              </a:rPr>
              <a:t>The cap flattens the playing field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4688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445577"/>
                </a:solidFill>
              </a:defRPr>
            </a:pPr>
            <a:r>
              <a:t>MLS points SD ≈ 11  vs  EPL ≈ 20+ pts</a:t>
            </a:r>
          </a:p>
          <a:p>
            <a:pPr>
              <a:spcAft>
                <a:spcPts val="500"/>
              </a:spcAft>
              <a:defRPr sz="1200">
                <a:solidFill>
                  <a:srgbClr val="445577"/>
                </a:solidFill>
              </a:defRPr>
            </a:pPr>
            <a:r>
              <a:t>Top/bottom payroll ratio: 3× in MLS vs 20× in EPL</a:t>
            </a:r>
          </a:p>
          <a:p>
            <a:pPr>
              <a:spcAft>
                <a:spcPts val="500"/>
              </a:spcAft>
              <a:defRPr sz="1200">
                <a:solidFill>
                  <a:srgbClr val="445577"/>
                </a:solidFill>
              </a:defRPr>
            </a:pPr>
            <a:r>
              <a:t>In EPL, narrative-driven resources compound into a full-season edge</a:t>
            </a:r>
          </a:p>
          <a:p>
            <a:pPr>
              <a:spcAft>
                <a:spcPts val="500"/>
              </a:spcAft>
              <a:defRPr sz="1200">
                <a:solidFill>
                  <a:srgbClr val="445577"/>
                </a:solidFill>
              </a:defRPr>
            </a:pPr>
            <a:r>
              <a:t>In MLS, that same edge only shows up at the binary playoff cutoff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D1A33"/>
                </a:solidFill>
              </a:rPr>
              <a:t>Two Parallel Narratives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577"/>
                </a:solidFill>
              </a:rPr>
              <a:t>Press and Reddit track very different things — and that gap tells a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53312"/>
            <a:ext cx="11338560" cy="2743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74536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BCCFF"/>
                </a:solidFill>
              </a:rPr>
              <a:t>MLS NLP Project  ·  Dante  ·  Wilson  ·  Faisal  ·  Fidel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2743200" cy="4572000"/>
          </a:xfrm>
          <a:prstGeom prst="rect">
            <a:avLst/>
          </a:prstGeom>
          <a:solidFill>
            <a:srgbClr val="F7F8FC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508760"/>
            <a:ext cx="2743200" cy="109728"/>
          </a:xfrm>
          <a:prstGeom prst="rect">
            <a:avLst/>
          </a:prstGeom>
          <a:solidFill>
            <a:srgbClr val="1D4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428A"/>
                </a:solidFill>
              </a:rPr>
              <a:t>Institutional Legacy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A33"/>
                </a:solidFill>
              </a:rPr>
              <a:t>Toronto FC  ·  LA Galaxy  ·  CF Montreal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5176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77"/>
                </a:solidFill>
              </a:rPr>
              <a:t>High press, low Reddit. Historical success sustains coverage long after competitive decline.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5848" y="1508760"/>
            <a:ext cx="2743200" cy="4572000"/>
          </a:xfrm>
          <a:prstGeom prst="rect">
            <a:avLst/>
          </a:prstGeom>
          <a:solidFill>
            <a:srgbClr val="F7F8FC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55848" y="1508760"/>
            <a:ext cx="2743200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7288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</a:rPr>
              <a:t>Grassroots Underdogs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A33"/>
                </a:solidFill>
              </a:rPr>
              <a:t>Philadelphia Union  ·  Columbus Crew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265176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77"/>
                </a:solidFill>
              </a:rPr>
              <a:t>Fan discourse outpaces press. Active communities reflect real competitive quality.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216" y="1508760"/>
            <a:ext cx="2743200" cy="4572000"/>
          </a:xfrm>
          <a:prstGeom prst="rect">
            <a:avLst/>
          </a:prstGeom>
          <a:solidFill>
            <a:srgbClr val="F7F8FC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0216" y="1508760"/>
            <a:ext cx="2743200" cy="109728"/>
          </a:xfrm>
          <a:prstGeom prst="rect">
            <a:avLst/>
          </a:prstGeom>
          <a:solidFill>
            <a:srgbClr val="22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1656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7A3A"/>
                </a:solidFill>
              </a:rPr>
              <a:t>Consensus Stars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A33"/>
                </a:solidFill>
              </a:rPr>
              <a:t>Inter Miami CF  ·  Seattle Sounders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265176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77"/>
                </a:solidFill>
              </a:rPr>
              <a:t>High in both channels. Narrative and performance are aligned.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44584" y="1508760"/>
            <a:ext cx="2743200" cy="4572000"/>
          </a:xfrm>
          <a:prstGeom prst="rect">
            <a:avLst/>
          </a:prstGeom>
          <a:solidFill>
            <a:srgbClr val="F7F8FC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44584" y="1508760"/>
            <a:ext cx="2743200" cy="109728"/>
          </a:xfrm>
          <a:prstGeom prst="rect">
            <a:avLst/>
          </a:prstGeom>
          <a:solidFill>
            <a:srgbClr val="66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36024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66688"/>
                </a:solidFill>
              </a:rPr>
              <a:t>Low 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6024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A33"/>
                </a:solidFill>
              </a:rPr>
              <a:t>Nashville  ·  San Jose  ·  St. Louis  ·  Colorado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6024" y="265176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77"/>
                </a:solidFill>
              </a:rPr>
              <a:t>Below median in both. Expansion clubs and small markets not yet established.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D1A33"/>
                </a:solidFill>
              </a:rPr>
              <a:t>Case Study: Toronto FC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577"/>
                </a:solidFill>
              </a:rPr>
              <a:t>The clearest example of institutional inertia — press stuck in 2017, Reddit in 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53312"/>
            <a:ext cx="11338560" cy="2743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74536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BCCFF"/>
                </a:solidFill>
              </a:rPr>
              <a:t>MLS NLP Project  ·  Dante  ·  Wilson  ·  Faisal  ·  Fidel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265176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581912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6.0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5856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Press Rank (avg)
2018–2024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508760"/>
            <a:ext cx="265176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1581912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19.4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25856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Reddit Rank (avg)
2018–2024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508760"/>
            <a:ext cx="265176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0759" y="1581912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Bot.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225856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EC Finish
every yr 2020–2024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1508760"/>
            <a:ext cx="2651760" cy="128016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0" y="1581912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+1→+21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5856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Rank Gap
2018 → 2022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017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28A"/>
                </a:solidFill>
              </a:rPr>
              <a:t>WHAT HAPPENED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401568"/>
            <a:ext cx="11338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Toronto won the MLS Treble in 2017 — it was the biggest story in league history at the time</a:t>
            </a:r>
          </a:p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That narrative capital kept them in the top 6 of press coverage for the entire 7-year panel</a:t>
            </a:r>
          </a:p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Meanwhile they finished bottom 3 in the Eastern Conference every single season from 2020 to 2024</a:t>
            </a:r>
          </a:p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Reddit updated in real time — fans knew the team was bad. Press took years to catch up.</a:t>
            </a:r>
          </a:p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The gap widened every year: +1 in 2018, growing to +21 by 2022 and holding there through 2023</a:t>
            </a:r>
          </a:p>
          <a:p>
            <a:pPr>
              <a:spcAft>
                <a:spcPts val="500"/>
              </a:spcAft>
              <a:defRPr sz="1300">
                <a:solidFill>
                  <a:srgbClr val="445577"/>
                </a:solidFill>
              </a:defRPr>
            </a:pPr>
            <a:r>
              <a:t>By 2024 the press rank had declined slightly to 4th — still top-5, still above a perennial also-ran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D1A33"/>
                </a:solidFill>
              </a:rPr>
              <a:t>MLS vs EPL: Two Different Worlds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577"/>
                </a:solidFill>
              </a:rPr>
              <a:t>The same narrative measure behaves differently depending on the league's institutional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53312"/>
            <a:ext cx="11338560" cy="2743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74536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BCCFF"/>
                </a:solidFill>
              </a:rPr>
              <a:t>MLS NLP Project  ·  Dante  ·  Wilson  ·  Faisal  ·  Fidel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2926080" cy="57204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563624"/>
            <a:ext cx="2743200" cy="497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20440" y="1508760"/>
            <a:ext cx="4023360" cy="572048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1563624"/>
            <a:ext cx="3840480" cy="497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MLS (This Study)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1508760"/>
            <a:ext cx="4023360" cy="572048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18119" y="1563624"/>
            <a:ext cx="3840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</a:rPr>
              <a:t>EPL</a:t>
            </a:r>
            <a:br>
              <a:rPr lang="en-US" sz="1300" b="1" dirty="0">
                <a:solidFill>
                  <a:srgbClr val="FFFFFF"/>
                </a:solidFill>
              </a:rPr>
            </a:b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1480" y="2130552"/>
            <a:ext cx="2926080" cy="572048"/>
          </a:xfrm>
          <a:prstGeom prst="rect">
            <a:avLst/>
          </a:prstGeom>
          <a:solidFill>
            <a:srgbClr val="FFFFFF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194560"/>
            <a:ext cx="2743200" cy="497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A33"/>
                </a:solidFill>
              </a:rPr>
              <a:t>Salary structure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2130552"/>
            <a:ext cx="4023360" cy="572048"/>
          </a:xfrm>
          <a:prstGeom prst="rect">
            <a:avLst/>
          </a:prstGeom>
          <a:solidFill>
            <a:srgbClr val="FFFFFF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80" y="2194560"/>
            <a:ext cx="3840480" cy="497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Hard cap — top/bottom ≈ 3×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79" y="2130552"/>
            <a:ext cx="4023360" cy="572048"/>
          </a:xfrm>
          <a:prstGeom prst="rect">
            <a:avLst/>
          </a:prstGeom>
          <a:solidFill>
            <a:srgbClr val="FFFFFF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19" y="2194560"/>
            <a:ext cx="3840480" cy="497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No cap — top/bottom ≈ 20×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752344"/>
            <a:ext cx="2926080" cy="572048"/>
          </a:xfrm>
          <a:prstGeom prst="rect">
            <a:avLst/>
          </a:prstGeom>
          <a:solidFill>
            <a:srgbClr val="F0F3F9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2816351"/>
            <a:ext cx="2743200" cy="497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A33"/>
                </a:solidFill>
              </a:rPr>
              <a:t>Narrative → Points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2752344"/>
            <a:ext cx="4023360" cy="572048"/>
          </a:xfrm>
          <a:prstGeom prst="rect">
            <a:avLst/>
          </a:prstGeom>
          <a:solidFill>
            <a:srgbClr val="F0F3F9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11880" y="2816351"/>
            <a:ext cx="3840480" cy="497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Non-significant (all specs)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79" y="2752344"/>
            <a:ext cx="4023360" cy="572048"/>
          </a:xfrm>
          <a:prstGeom prst="rect">
            <a:avLst/>
          </a:prstGeom>
          <a:solidFill>
            <a:srgbClr val="F0F3F9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18119" y="2816351"/>
            <a:ext cx="3840480" cy="497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Significant after controls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374136"/>
            <a:ext cx="2926080" cy="572048"/>
          </a:xfrm>
          <a:prstGeom prst="rect">
            <a:avLst/>
          </a:prstGeom>
          <a:solidFill>
            <a:srgbClr val="FFFFFF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438144"/>
            <a:ext cx="2743200" cy="497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A33"/>
                </a:solidFill>
              </a:rPr>
              <a:t>Narrative → Playoffs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3374136"/>
            <a:ext cx="4023360" cy="572048"/>
          </a:xfrm>
          <a:prstGeom prst="rect">
            <a:avLst/>
          </a:prstGeom>
          <a:solidFill>
            <a:srgbClr val="FFFFFF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11880" y="3438144"/>
            <a:ext cx="3840480" cy="497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Significant β=4.82, p=.048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26679" y="3374136"/>
            <a:ext cx="4023360" cy="572048"/>
          </a:xfrm>
          <a:prstGeom prst="rect">
            <a:avLst/>
          </a:prstGeom>
          <a:solidFill>
            <a:srgbClr val="FFFFFF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18119" y="3438144"/>
            <a:ext cx="3840480" cy="497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N/A (table-based system)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995928"/>
            <a:ext cx="2926080" cy="572048"/>
          </a:xfrm>
          <a:prstGeom prst="rect">
            <a:avLst/>
          </a:prstGeom>
          <a:solidFill>
            <a:srgbClr val="F0F3F9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4059936"/>
            <a:ext cx="2743200" cy="497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A33"/>
                </a:solidFill>
              </a:rPr>
              <a:t>Out-of-sample performance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20440" y="3995928"/>
            <a:ext cx="4023360" cy="572048"/>
          </a:xfrm>
          <a:prstGeom prst="rect">
            <a:avLst/>
          </a:prstGeom>
          <a:solidFill>
            <a:srgbClr val="F0F3F9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11880" y="4059936"/>
            <a:ext cx="3840480" cy="497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LOYO AUC = 0.747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26679" y="3995928"/>
            <a:ext cx="4023360" cy="572048"/>
          </a:xfrm>
          <a:prstGeom prst="rect">
            <a:avLst/>
          </a:prstGeom>
          <a:solidFill>
            <a:srgbClr val="F0F3F9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18119" y="4059936"/>
            <a:ext cx="3840480" cy="497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R² holds cross-season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4617720"/>
            <a:ext cx="2926080" cy="572048"/>
          </a:xfrm>
          <a:prstGeom prst="rect">
            <a:avLst/>
          </a:prstGeom>
          <a:solidFill>
            <a:srgbClr val="FFFFFF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4681728"/>
            <a:ext cx="2743200" cy="497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A33"/>
                </a:solidFill>
              </a:rPr>
              <a:t>Press inertia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0440" y="4617720"/>
            <a:ext cx="4023360" cy="572048"/>
          </a:xfrm>
          <a:prstGeom prst="rect">
            <a:avLst/>
          </a:prstGeom>
          <a:solidFill>
            <a:srgbClr val="FFFFFF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11880" y="4681728"/>
            <a:ext cx="3840480" cy="497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Strong (Toronto FC)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26679" y="4617720"/>
            <a:ext cx="4023360" cy="572048"/>
          </a:xfrm>
          <a:prstGeom prst="rect">
            <a:avLst/>
          </a:prstGeom>
          <a:solidFill>
            <a:srgbClr val="FFFFFF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818119" y="4681728"/>
            <a:ext cx="3840480" cy="497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Present but more moderate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D1A33"/>
                </a:solidFill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577"/>
                </a:solidFill>
              </a:rPr>
              <a:t>Four evidence-backed takeaways from the MLS narrative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53312"/>
            <a:ext cx="11338560" cy="2743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74536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BCCFF"/>
                </a:solidFill>
              </a:rPr>
              <a:t>MLS NLP Project  ·  Dante  ·  Wilson  ·  Faisal  ·  Fidel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8102E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27048"/>
            <a:ext cx="10287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A33"/>
                </a:solidFill>
              </a:rPr>
              <a:t>Narrative does not predict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92807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press_strength_z is non-significant across all OLS specifications. Salary cap compresses performance variance.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688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8102E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87168"/>
            <a:ext cx="10287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A33"/>
                </a:solidFill>
              </a:rPr>
              <a:t>Narrative does predict playoff qualification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52928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β=4.82 (p=.048), marginal effect of 82pp. LOYO mean AUC = 0.747 across seven seasons.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4290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8102E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47288"/>
            <a:ext cx="10287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A33"/>
                </a:solidFill>
              </a:rPr>
              <a:t>Press and Reddit carry different information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13048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Press tracks legacy and reputation. Reddit tracks current performance. The gap reveals club type.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3891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8102E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407407"/>
            <a:ext cx="10287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A33"/>
                </a:solidFill>
              </a:rPr>
              <a:t>The EPL contrast validates the theory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73168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5577"/>
                </a:solidFill>
              </a:rPr>
              <a:t>Same measure predicts points in uncapped EPL but only playoff threshold in capped MLS. Structure mediates narrative.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D4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The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BCCFF"/>
                </a:solidFill>
              </a:rPr>
              <a:t>Press narrative centrality predicts whether MLS clubs make the playoffs.
It does not predict how many points they earn — and that difference is explained
by the salary cap flattening the path from narrative to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428A"/>
                </a:solidFill>
              </a:rPr>
              <a:t>For Clubs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204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</a:rPr>
              <a:t>Narrative management helps clear the playoff threshold. That's the margin that matters in MLS.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428A"/>
                </a:solidFill>
              </a:rPr>
              <a:t>For Researchers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35204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</a:rPr>
              <a:t>League institutional structure mediates how narrative translates to outcomes. Test across leagues.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428A"/>
                </a:solidFill>
              </a:rPr>
              <a:t>For 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35204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</a:rPr>
              <a:t>Apply to NWSL, MLS NEXT Pro. Test whether DP signings amplify the narrative-playoff link.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" y="6574536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BCCFF"/>
                </a:solidFill>
              </a:rPr>
              <a:t>MLS NLP Project  ·  Dante  ·  Wilson  ·  Faisal  ·  Fidel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1535</Words>
  <Application>Microsoft Macintosh PowerPoint</Application>
  <PresentationFormat>Custom</PresentationFormat>
  <Paragraphs>191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Shoghanian, Dante</cp:lastModifiedBy>
  <cp:revision>2</cp:revision>
  <dcterms:created xsi:type="dcterms:W3CDTF">2013-01-27T09:14:16Z</dcterms:created>
  <dcterms:modified xsi:type="dcterms:W3CDTF">2026-05-04T22:05:04Z</dcterms:modified>
  <cp:category/>
</cp:coreProperties>
</file>
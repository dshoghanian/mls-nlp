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74320" cy="6858000"/>
          </a:xfrm>
          <a:prstGeom prst="rect">
            <a:avLst/>
          </a:prstGeom>
          <a:solidFill>
            <a:srgbClr val="22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10972800" cy="457200"/>
          </a:xfrm>
          <a:prstGeom prst="rect">
            <a:avLst/>
          </a:prstGeom>
          <a:noFill/>
        </p:spPr>
        <p:txBody>
          <a:bodyPr wrap="square">
            <a:spAutoFit/>
          </a:bodyPr>
          <a:lstStyle/>
          <a:p>
            <a:pPr algn="l"/>
            <a:r>
              <a:rPr sz="1300" b="1">
                <a:solidFill>
                  <a:srgbClr val="227A3A"/>
                </a:solidFill>
              </a:rPr>
              <a:t>WHEN MEDIA AND FANS DISAGREE</a:t>
            </a:r>
          </a:p>
        </p:txBody>
      </p:sp>
      <p:sp>
        <p:nvSpPr>
          <p:cNvPr id="5" name="TextBox 4"/>
          <p:cNvSpPr txBox="1"/>
          <p:nvPr/>
        </p:nvSpPr>
        <p:spPr>
          <a:xfrm>
            <a:off x="502920" y="868680"/>
            <a:ext cx="10972800" cy="1554480"/>
          </a:xfrm>
          <a:prstGeom prst="rect">
            <a:avLst/>
          </a:prstGeom>
          <a:noFill/>
        </p:spPr>
        <p:txBody>
          <a:bodyPr wrap="square">
            <a:spAutoFit/>
          </a:bodyPr>
          <a:lstStyle/>
          <a:p>
            <a:pPr algn="l"/>
            <a:r>
              <a:rPr sz="4600" b="1">
                <a:solidFill>
                  <a:srgbClr val="0D1A33"/>
                </a:solidFill>
              </a:rPr>
              <a:t>Press-Reddit Narrative
Divergence in MLS</a:t>
            </a:r>
          </a:p>
        </p:txBody>
      </p:sp>
      <p:sp>
        <p:nvSpPr>
          <p:cNvPr id="6" name="TextBox 5"/>
          <p:cNvSpPr txBox="1"/>
          <p:nvPr/>
        </p:nvSpPr>
        <p:spPr>
          <a:xfrm>
            <a:off x="502920" y="2606040"/>
            <a:ext cx="10972800" cy="502920"/>
          </a:xfrm>
          <a:prstGeom prst="rect">
            <a:avLst/>
          </a:prstGeom>
          <a:noFill/>
        </p:spPr>
        <p:txBody>
          <a:bodyPr wrap="square">
            <a:spAutoFit/>
          </a:bodyPr>
          <a:lstStyle/>
          <a:p>
            <a:pPr algn="l"/>
            <a:r>
              <a:rPr sz="2000" b="0">
                <a:solidFill>
                  <a:srgbClr val="445577"/>
                </a:solidFill>
              </a:rPr>
              <a:t>A Research Note on Two Parallel Ecosystems</a:t>
            </a:r>
          </a:p>
        </p:txBody>
      </p:sp>
      <p:sp>
        <p:nvSpPr>
          <p:cNvPr id="7" name="Rectangle 6"/>
          <p:cNvSpPr/>
          <p:nvPr/>
        </p:nvSpPr>
        <p:spPr>
          <a:xfrm>
            <a:off x="502920" y="3383280"/>
            <a:ext cx="246888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456432"/>
            <a:ext cx="2286000" cy="640080"/>
          </a:xfrm>
          <a:prstGeom prst="rect">
            <a:avLst/>
          </a:prstGeom>
          <a:noFill/>
        </p:spPr>
        <p:txBody>
          <a:bodyPr wrap="square">
            <a:spAutoFit/>
          </a:bodyPr>
          <a:lstStyle/>
          <a:p>
            <a:pPr algn="ctr"/>
            <a:r>
              <a:rPr sz="3800" b="1">
                <a:solidFill>
                  <a:srgbClr val="FFFFFF"/>
                </a:solidFill>
              </a:rPr>
              <a:t>186</a:t>
            </a:r>
          </a:p>
        </p:txBody>
      </p:sp>
      <p:sp>
        <p:nvSpPr>
          <p:cNvPr id="9" name="TextBox 8"/>
          <p:cNvSpPr txBox="1"/>
          <p:nvPr/>
        </p:nvSpPr>
        <p:spPr>
          <a:xfrm>
            <a:off x="594360" y="4133088"/>
            <a:ext cx="2286000" cy="457200"/>
          </a:xfrm>
          <a:prstGeom prst="rect">
            <a:avLst/>
          </a:prstGeom>
          <a:noFill/>
        </p:spPr>
        <p:txBody>
          <a:bodyPr wrap="square">
            <a:spAutoFit/>
          </a:bodyPr>
          <a:lstStyle/>
          <a:p>
            <a:pPr algn="ctr"/>
            <a:r>
              <a:rPr sz="1000" b="0">
                <a:solidFill>
                  <a:srgbClr val="BBCCFF"/>
                </a:solidFill>
              </a:rPr>
              <a:t>Club-season obs.
2018–2024</a:t>
            </a:r>
          </a:p>
        </p:txBody>
      </p:sp>
      <p:sp>
        <p:nvSpPr>
          <p:cNvPr id="10" name="Rectangle 9"/>
          <p:cNvSpPr/>
          <p:nvPr/>
        </p:nvSpPr>
        <p:spPr>
          <a:xfrm>
            <a:off x="3154680" y="3383280"/>
            <a:ext cx="246888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46120" y="3456432"/>
            <a:ext cx="2286000" cy="640080"/>
          </a:xfrm>
          <a:prstGeom prst="rect">
            <a:avLst/>
          </a:prstGeom>
          <a:noFill/>
        </p:spPr>
        <p:txBody>
          <a:bodyPr wrap="square">
            <a:spAutoFit/>
          </a:bodyPr>
          <a:lstStyle/>
          <a:p>
            <a:pPr algn="ctr"/>
            <a:r>
              <a:rPr sz="3800" b="1">
                <a:solidFill>
                  <a:srgbClr val="FFFFFF"/>
                </a:solidFill>
              </a:rPr>
              <a:t>29</a:t>
            </a:r>
          </a:p>
        </p:txBody>
      </p:sp>
      <p:sp>
        <p:nvSpPr>
          <p:cNvPr id="12" name="TextBox 11"/>
          <p:cNvSpPr txBox="1"/>
          <p:nvPr/>
        </p:nvSpPr>
        <p:spPr>
          <a:xfrm>
            <a:off x="3246120" y="4133088"/>
            <a:ext cx="2286000" cy="457200"/>
          </a:xfrm>
          <a:prstGeom prst="rect">
            <a:avLst/>
          </a:prstGeom>
          <a:noFill/>
        </p:spPr>
        <p:txBody>
          <a:bodyPr wrap="square">
            <a:spAutoFit/>
          </a:bodyPr>
          <a:lstStyle/>
          <a:p>
            <a:pPr algn="ctr"/>
            <a:r>
              <a:rPr sz="1000" b="0">
                <a:solidFill>
                  <a:srgbClr val="BBCCFF"/>
                </a:solidFill>
              </a:rPr>
              <a:t>MLS clubs
classified</a:t>
            </a:r>
          </a:p>
        </p:txBody>
      </p:sp>
      <p:sp>
        <p:nvSpPr>
          <p:cNvPr id="13" name="Rectangle 12"/>
          <p:cNvSpPr/>
          <p:nvPr/>
        </p:nvSpPr>
        <p:spPr>
          <a:xfrm>
            <a:off x="5806440" y="3383280"/>
            <a:ext cx="246888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97879" y="3456432"/>
            <a:ext cx="2286000" cy="640080"/>
          </a:xfrm>
          <a:prstGeom prst="rect">
            <a:avLst/>
          </a:prstGeom>
          <a:noFill/>
        </p:spPr>
        <p:txBody>
          <a:bodyPr wrap="square">
            <a:spAutoFit/>
          </a:bodyPr>
          <a:lstStyle/>
          <a:p>
            <a:pPr algn="ctr"/>
            <a:r>
              <a:rPr sz="3800" b="1">
                <a:solidFill>
                  <a:srgbClr val="FFFFFF"/>
                </a:solidFill>
              </a:rPr>
              <a:t>4</a:t>
            </a:r>
          </a:p>
        </p:txBody>
      </p:sp>
      <p:sp>
        <p:nvSpPr>
          <p:cNvPr id="15" name="TextBox 14"/>
          <p:cNvSpPr txBox="1"/>
          <p:nvPr/>
        </p:nvSpPr>
        <p:spPr>
          <a:xfrm>
            <a:off x="5897879" y="4133088"/>
            <a:ext cx="2286000" cy="457200"/>
          </a:xfrm>
          <a:prstGeom prst="rect">
            <a:avLst/>
          </a:prstGeom>
          <a:noFill/>
        </p:spPr>
        <p:txBody>
          <a:bodyPr wrap="square">
            <a:spAutoFit/>
          </a:bodyPr>
          <a:lstStyle/>
          <a:p>
            <a:pPr algn="ctr"/>
            <a:r>
              <a:rPr sz="1000" b="0">
                <a:solidFill>
                  <a:srgbClr val="BBCCFF"/>
                </a:solidFill>
              </a:rPr>
              <a:t>Club type
quadrants</a:t>
            </a:r>
          </a:p>
        </p:txBody>
      </p:sp>
      <p:sp>
        <p:nvSpPr>
          <p:cNvPr id="16" name="Rectangle 15"/>
          <p:cNvSpPr/>
          <p:nvPr/>
        </p:nvSpPr>
        <p:spPr>
          <a:xfrm>
            <a:off x="8458200" y="3383280"/>
            <a:ext cx="246888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49640" y="3456432"/>
            <a:ext cx="2286000" cy="640080"/>
          </a:xfrm>
          <a:prstGeom prst="rect">
            <a:avLst/>
          </a:prstGeom>
          <a:noFill/>
        </p:spPr>
        <p:txBody>
          <a:bodyPr wrap="square">
            <a:spAutoFit/>
          </a:bodyPr>
          <a:lstStyle/>
          <a:p>
            <a:pPr algn="ctr"/>
            <a:r>
              <a:rPr sz="3800" b="1">
                <a:solidFill>
                  <a:srgbClr val="FFFFFF"/>
                </a:solidFill>
              </a:rPr>
              <a:t>r=−0.012</a:t>
            </a:r>
          </a:p>
        </p:txBody>
      </p:sp>
      <p:sp>
        <p:nvSpPr>
          <p:cNvPr id="18" name="TextBox 17"/>
          <p:cNvSpPr txBox="1"/>
          <p:nvPr/>
        </p:nvSpPr>
        <p:spPr>
          <a:xfrm>
            <a:off x="8549640" y="4133088"/>
            <a:ext cx="2286000" cy="457200"/>
          </a:xfrm>
          <a:prstGeom prst="rect">
            <a:avLst/>
          </a:prstGeom>
          <a:noFill/>
        </p:spPr>
        <p:txBody>
          <a:bodyPr wrap="square">
            <a:spAutoFit/>
          </a:bodyPr>
          <a:lstStyle/>
          <a:p>
            <a:pPr algn="ctr"/>
            <a:r>
              <a:rPr sz="1000" b="0">
                <a:solidFill>
                  <a:srgbClr val="BBCCFF"/>
                </a:solidFill>
              </a:rPr>
              <a:t>Gap vs valuation
(not predictive)</a:t>
            </a:r>
          </a:p>
        </p:txBody>
      </p:sp>
      <p:sp>
        <p:nvSpPr>
          <p:cNvPr id="19" name="TextBox 18"/>
          <p:cNvSpPr txBox="1"/>
          <p:nvPr/>
        </p:nvSpPr>
        <p:spPr>
          <a:xfrm>
            <a:off x="502920" y="4892040"/>
            <a:ext cx="10972800" cy="365760"/>
          </a:xfrm>
          <a:prstGeom prst="rect">
            <a:avLst/>
          </a:prstGeom>
          <a:noFill/>
        </p:spPr>
        <p:txBody>
          <a:bodyPr wrap="square">
            <a:spAutoFit/>
          </a:bodyPr>
          <a:lstStyle/>
          <a:p>
            <a:pPr algn="l"/>
            <a:r>
              <a:rPr sz="1100" b="0">
                <a:solidFill>
                  <a:srgbClr val="445577"/>
                </a:solidFill>
              </a:rPr>
              <a:t>Shoghanian &amp; Tang  ·  Target: International Journal of Sport Communication</a:t>
            </a:r>
          </a:p>
        </p:txBody>
      </p:sp>
      <p:sp>
        <p:nvSpPr>
          <p:cNvPr id="20" name="Rectangle 19"/>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Three Questions</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What happens when institutional media and fan communities tell different stories?</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11338560" cy="14173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18488"/>
            <a:ext cx="777240" cy="1097280"/>
          </a:xfrm>
          <a:prstGeom prst="rect">
            <a:avLst/>
          </a:prstGeom>
          <a:noFill/>
        </p:spPr>
        <p:txBody>
          <a:bodyPr wrap="square">
            <a:spAutoFit/>
          </a:bodyPr>
          <a:lstStyle/>
          <a:p>
            <a:pPr algn="l"/>
            <a:r>
              <a:rPr sz="2400" b="1">
                <a:solidFill>
                  <a:srgbClr val="C8102E"/>
                </a:solidFill>
              </a:rPr>
              <a:t>RQ1</a:t>
            </a:r>
          </a:p>
        </p:txBody>
      </p:sp>
      <p:sp>
        <p:nvSpPr>
          <p:cNvPr id="10" name="TextBox 9"/>
          <p:cNvSpPr txBox="1"/>
          <p:nvPr/>
        </p:nvSpPr>
        <p:spPr>
          <a:xfrm>
            <a:off x="1463040" y="1618488"/>
            <a:ext cx="4114800" cy="868680"/>
          </a:xfrm>
          <a:prstGeom prst="rect">
            <a:avLst/>
          </a:prstGeom>
          <a:noFill/>
        </p:spPr>
        <p:txBody>
          <a:bodyPr wrap="square">
            <a:spAutoFit/>
          </a:bodyPr>
          <a:lstStyle/>
          <a:p>
            <a:pPr algn="l"/>
            <a:r>
              <a:rPr sz="1500" b="1">
                <a:solidFill>
                  <a:srgbClr val="0D1A33"/>
                </a:solidFill>
              </a:rPr>
              <a:t>Do press and fan narratives
systematically diverge?</a:t>
            </a:r>
          </a:p>
        </p:txBody>
      </p:sp>
      <p:sp>
        <p:nvSpPr>
          <p:cNvPr id="11" name="TextBox 10"/>
          <p:cNvSpPr txBox="1"/>
          <p:nvPr/>
        </p:nvSpPr>
        <p:spPr>
          <a:xfrm>
            <a:off x="5760720" y="1709928"/>
            <a:ext cx="5760720" cy="914400"/>
          </a:xfrm>
          <a:prstGeom prst="rect">
            <a:avLst/>
          </a:prstGeom>
          <a:noFill/>
        </p:spPr>
        <p:txBody>
          <a:bodyPr wrap="square">
            <a:spAutoFit/>
          </a:bodyPr>
          <a:lstStyle/>
          <a:p>
            <a:pPr algn="l"/>
            <a:r>
              <a:rPr sz="1200" b="0">
                <a:solidFill>
                  <a:srgbClr val="445577"/>
                </a:solidFill>
              </a:rPr>
              <a:t>Which MLS clubs show the largest gaps between what the press covers and what fans talk about?</a:t>
            </a:r>
          </a:p>
        </p:txBody>
      </p:sp>
      <p:sp>
        <p:nvSpPr>
          <p:cNvPr id="12" name="Rectangle 11"/>
          <p:cNvSpPr/>
          <p:nvPr/>
        </p:nvSpPr>
        <p:spPr>
          <a:xfrm>
            <a:off x="411480" y="3081528"/>
            <a:ext cx="11338560" cy="14173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191256"/>
            <a:ext cx="777240" cy="1097280"/>
          </a:xfrm>
          <a:prstGeom prst="rect">
            <a:avLst/>
          </a:prstGeom>
          <a:noFill/>
        </p:spPr>
        <p:txBody>
          <a:bodyPr wrap="square">
            <a:spAutoFit/>
          </a:bodyPr>
          <a:lstStyle/>
          <a:p>
            <a:pPr algn="l"/>
            <a:r>
              <a:rPr sz="2400" b="1">
                <a:solidFill>
                  <a:srgbClr val="C8102E"/>
                </a:solidFill>
              </a:rPr>
              <a:t>RQ2</a:t>
            </a:r>
          </a:p>
        </p:txBody>
      </p:sp>
      <p:sp>
        <p:nvSpPr>
          <p:cNvPr id="14" name="TextBox 13"/>
          <p:cNvSpPr txBox="1"/>
          <p:nvPr/>
        </p:nvSpPr>
        <p:spPr>
          <a:xfrm>
            <a:off x="1463040" y="3191256"/>
            <a:ext cx="4114800" cy="868680"/>
          </a:xfrm>
          <a:prstGeom prst="rect">
            <a:avLst/>
          </a:prstGeom>
          <a:noFill/>
        </p:spPr>
        <p:txBody>
          <a:bodyPr wrap="square">
            <a:spAutoFit/>
          </a:bodyPr>
          <a:lstStyle/>
          <a:p>
            <a:pPr algn="l"/>
            <a:r>
              <a:rPr sz="1500" b="1">
                <a:solidFill>
                  <a:srgbClr val="0D1A33"/>
                </a:solidFill>
              </a:rPr>
              <a:t>Does one channel lead
the other over time?</a:t>
            </a:r>
          </a:p>
        </p:txBody>
      </p:sp>
      <p:sp>
        <p:nvSpPr>
          <p:cNvPr id="15" name="TextBox 14"/>
          <p:cNvSpPr txBox="1"/>
          <p:nvPr/>
        </p:nvSpPr>
        <p:spPr>
          <a:xfrm>
            <a:off x="5760720" y="3282696"/>
            <a:ext cx="5760720" cy="914400"/>
          </a:xfrm>
          <a:prstGeom prst="rect">
            <a:avLst/>
          </a:prstGeom>
          <a:noFill/>
        </p:spPr>
        <p:txBody>
          <a:bodyPr wrap="square">
            <a:spAutoFit/>
          </a:bodyPr>
          <a:lstStyle/>
          <a:p>
            <a:pPr algn="l"/>
            <a:r>
              <a:rPr sz="1200" b="0">
                <a:solidFill>
                  <a:srgbClr val="445577"/>
                </a:solidFill>
              </a:rPr>
              <a:t>Granger causality test — does press sentiment predict future Reddit sentiment, or vice versa?</a:t>
            </a:r>
          </a:p>
        </p:txBody>
      </p:sp>
      <p:sp>
        <p:nvSpPr>
          <p:cNvPr id="16" name="Rectangle 15"/>
          <p:cNvSpPr/>
          <p:nvPr/>
        </p:nvSpPr>
        <p:spPr>
          <a:xfrm>
            <a:off x="411480" y="4654296"/>
            <a:ext cx="11338560" cy="14173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764024"/>
            <a:ext cx="777240" cy="1097280"/>
          </a:xfrm>
          <a:prstGeom prst="rect">
            <a:avLst/>
          </a:prstGeom>
          <a:noFill/>
        </p:spPr>
        <p:txBody>
          <a:bodyPr wrap="square">
            <a:spAutoFit/>
          </a:bodyPr>
          <a:lstStyle/>
          <a:p>
            <a:pPr algn="l"/>
            <a:r>
              <a:rPr sz="2400" b="1">
                <a:solidFill>
                  <a:srgbClr val="C8102E"/>
                </a:solidFill>
              </a:rPr>
              <a:t>RQ3</a:t>
            </a:r>
          </a:p>
        </p:txBody>
      </p:sp>
      <p:sp>
        <p:nvSpPr>
          <p:cNvPr id="18" name="TextBox 17"/>
          <p:cNvSpPr txBox="1"/>
          <p:nvPr/>
        </p:nvSpPr>
        <p:spPr>
          <a:xfrm>
            <a:off x="1463040" y="4764024"/>
            <a:ext cx="4114800" cy="868680"/>
          </a:xfrm>
          <a:prstGeom prst="rect">
            <a:avLst/>
          </a:prstGeom>
          <a:noFill/>
        </p:spPr>
        <p:txBody>
          <a:bodyPr wrap="square">
            <a:spAutoFit/>
          </a:bodyPr>
          <a:lstStyle/>
          <a:p>
            <a:pPr algn="l"/>
            <a:r>
              <a:rPr sz="1500" b="1">
                <a:solidFill>
                  <a:srgbClr val="0D1A33"/>
                </a:solidFill>
              </a:rPr>
              <a:t>Does divergence predict
commercial outcomes?</a:t>
            </a:r>
          </a:p>
        </p:txBody>
      </p:sp>
      <p:sp>
        <p:nvSpPr>
          <p:cNvPr id="19" name="TextBox 18"/>
          <p:cNvSpPr txBox="1"/>
          <p:nvPr/>
        </p:nvSpPr>
        <p:spPr>
          <a:xfrm>
            <a:off x="5760720" y="4855464"/>
            <a:ext cx="5760720" cy="914400"/>
          </a:xfrm>
          <a:prstGeom prst="rect">
            <a:avLst/>
          </a:prstGeom>
          <a:noFill/>
        </p:spPr>
        <p:txBody>
          <a:bodyPr wrap="square">
            <a:spAutoFit/>
          </a:bodyPr>
          <a:lstStyle/>
          <a:p>
            <a:pPr algn="l"/>
            <a:r>
              <a:rPr sz="1200" b="0">
                <a:solidFill>
                  <a:srgbClr val="445577"/>
                </a:solidFill>
              </a:rPr>
              <a:t>If press and fans disagree about a club, does that gap forecast future valuation changes?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How We Measure the Gap</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Two parallel co-occurrence networks, one for press and one for Reddit, built from the same clubs</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5394960" cy="228600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627632"/>
            <a:ext cx="5029200" cy="365760"/>
          </a:xfrm>
          <a:prstGeom prst="rect">
            <a:avLst/>
          </a:prstGeom>
          <a:noFill/>
        </p:spPr>
        <p:txBody>
          <a:bodyPr wrap="square">
            <a:spAutoFit/>
          </a:bodyPr>
          <a:lstStyle/>
          <a:p>
            <a:pPr algn="l"/>
            <a:r>
              <a:rPr sz="1200" b="1">
                <a:solidFill>
                  <a:srgbClr val="1D428A"/>
                </a:solidFill>
              </a:rPr>
              <a:t>📰 PRESS NETWORK</a:t>
            </a:r>
          </a:p>
        </p:txBody>
      </p:sp>
      <p:sp>
        <p:nvSpPr>
          <p:cNvPr id="10" name="TextBox 9"/>
          <p:cNvSpPr txBox="1"/>
          <p:nvPr/>
        </p:nvSpPr>
        <p:spPr>
          <a:xfrm>
            <a:off x="594360" y="2029968"/>
            <a:ext cx="5029200" cy="1463040"/>
          </a:xfrm>
          <a:prstGeom prst="rect">
            <a:avLst/>
          </a:prstGeom>
          <a:noFill/>
        </p:spPr>
        <p:txBody>
          <a:bodyPr wrap="square">
            <a:spAutoFit/>
          </a:bodyPr>
          <a:lstStyle/>
          <a:p>
            <a:pPr>
              <a:spcAft>
                <a:spcPts val="500"/>
              </a:spcAft>
              <a:defRPr sz="1200">
                <a:solidFill>
                  <a:srgbClr val="445577"/>
                </a:solidFill>
              </a:defRPr>
            </a:pPr>
            <a:r>
              <a:t>7,236 articles → annual club co-occurrence graphs</a:t>
            </a:r>
          </a:p>
          <a:p>
            <a:pPr>
              <a:spcAft>
                <a:spcPts val="500"/>
              </a:spcAft>
              <a:defRPr sz="1200">
                <a:solidFill>
                  <a:srgbClr val="445577"/>
                </a:solidFill>
              </a:defRPr>
            </a:pPr>
            <a:r>
              <a:t>PageRank centrality per club per season</a:t>
            </a:r>
          </a:p>
          <a:p>
            <a:pPr>
              <a:spcAft>
                <a:spcPts val="500"/>
              </a:spcAft>
              <a:defRPr sz="1200">
                <a:solidFill>
                  <a:srgbClr val="445577"/>
                </a:solidFill>
              </a:defRPr>
            </a:pPr>
            <a:r>
              <a:t>Within-season rank assigned (rank 1 = most central)</a:t>
            </a:r>
          </a:p>
        </p:txBody>
      </p:sp>
      <p:sp>
        <p:nvSpPr>
          <p:cNvPr id="11" name="Rectangle 10"/>
          <p:cNvSpPr/>
          <p:nvPr/>
        </p:nvSpPr>
        <p:spPr>
          <a:xfrm>
            <a:off x="6355080" y="1508760"/>
            <a:ext cx="5394960" cy="228600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627632"/>
            <a:ext cx="5029200" cy="365760"/>
          </a:xfrm>
          <a:prstGeom prst="rect">
            <a:avLst/>
          </a:prstGeom>
          <a:noFill/>
        </p:spPr>
        <p:txBody>
          <a:bodyPr wrap="square">
            <a:spAutoFit/>
          </a:bodyPr>
          <a:lstStyle/>
          <a:p>
            <a:pPr algn="l"/>
            <a:r>
              <a:rPr sz="1200" b="1">
                <a:solidFill>
                  <a:srgbClr val="1D428A"/>
                </a:solidFill>
              </a:rPr>
              <a:t>💬 REDDIT NETWORK</a:t>
            </a:r>
          </a:p>
        </p:txBody>
      </p:sp>
      <p:sp>
        <p:nvSpPr>
          <p:cNvPr id="13" name="TextBox 12"/>
          <p:cNvSpPr txBox="1"/>
          <p:nvPr/>
        </p:nvSpPr>
        <p:spPr>
          <a:xfrm>
            <a:off x="6537960" y="2029968"/>
            <a:ext cx="5029200" cy="1463040"/>
          </a:xfrm>
          <a:prstGeom prst="rect">
            <a:avLst/>
          </a:prstGeom>
          <a:noFill/>
        </p:spPr>
        <p:txBody>
          <a:bodyPr wrap="square">
            <a:spAutoFit/>
          </a:bodyPr>
          <a:lstStyle/>
          <a:p>
            <a:pPr>
              <a:spcAft>
                <a:spcPts val="500"/>
              </a:spcAft>
              <a:defRPr sz="1200">
                <a:solidFill>
                  <a:srgbClr val="445577"/>
                </a:solidFill>
              </a:defRPr>
            </a:pPr>
            <a:r>
              <a:t>r/MLS + r/ussoccer + 26 club-specific subreddits</a:t>
            </a:r>
          </a:p>
          <a:p>
            <a:pPr>
              <a:spcAft>
                <a:spcPts val="500"/>
              </a:spcAft>
              <a:defRPr sz="1200">
                <a:solidFill>
                  <a:srgbClr val="445577"/>
                </a:solidFill>
              </a:defRPr>
            </a:pPr>
            <a:r>
              <a:t>Club co-mention networks → Reddit PageRank ranks</a:t>
            </a:r>
          </a:p>
          <a:p>
            <a:pPr>
              <a:spcAft>
                <a:spcPts val="500"/>
              </a:spcAft>
              <a:defRPr sz="1200">
                <a:solidFill>
                  <a:srgbClr val="445577"/>
                </a:solidFill>
              </a:defRPr>
            </a:pPr>
            <a:r>
              <a:t>Same within-season rank structure</a:t>
            </a:r>
          </a:p>
        </p:txBody>
      </p:sp>
      <p:sp>
        <p:nvSpPr>
          <p:cNvPr id="14" name="TextBox 13"/>
          <p:cNvSpPr txBox="1"/>
          <p:nvPr/>
        </p:nvSpPr>
        <p:spPr>
          <a:xfrm>
            <a:off x="411480" y="3977639"/>
            <a:ext cx="10972800" cy="347472"/>
          </a:xfrm>
          <a:prstGeom prst="rect">
            <a:avLst/>
          </a:prstGeom>
          <a:noFill/>
        </p:spPr>
        <p:txBody>
          <a:bodyPr wrap="square">
            <a:spAutoFit/>
          </a:bodyPr>
          <a:lstStyle/>
          <a:p>
            <a:pPr algn="l"/>
            <a:r>
              <a:rPr sz="1200" b="1">
                <a:solidFill>
                  <a:srgbClr val="1D428A"/>
                </a:solidFill>
              </a:rPr>
              <a:t>THE DIVERGENCE MEASURE</a:t>
            </a:r>
          </a:p>
        </p:txBody>
      </p:sp>
      <p:sp>
        <p:nvSpPr>
          <p:cNvPr id="15" name="TextBox 14"/>
          <p:cNvSpPr txBox="1"/>
          <p:nvPr/>
        </p:nvSpPr>
        <p:spPr>
          <a:xfrm>
            <a:off x="411480" y="4370832"/>
            <a:ext cx="11338560" cy="457200"/>
          </a:xfrm>
          <a:prstGeom prst="rect">
            <a:avLst/>
          </a:prstGeom>
          <a:noFill/>
        </p:spPr>
        <p:txBody>
          <a:bodyPr wrap="square">
            <a:spAutoFit/>
          </a:bodyPr>
          <a:lstStyle/>
          <a:p>
            <a:pPr algn="l"/>
            <a:r>
              <a:rPr sz="1600" b="1">
                <a:solidFill>
                  <a:srgbClr val="0D1A33"/>
                </a:solidFill>
              </a:rPr>
              <a:t>Press-Reddit Rank Gap  =  press rank  −  Reddit rank</a:t>
            </a:r>
          </a:p>
        </p:txBody>
      </p:sp>
      <p:sp>
        <p:nvSpPr>
          <p:cNvPr id="16" name="TextBox 15"/>
          <p:cNvSpPr txBox="1"/>
          <p:nvPr/>
        </p:nvSpPr>
        <p:spPr>
          <a:xfrm>
            <a:off x="411480" y="4864608"/>
            <a:ext cx="11338560" cy="1097280"/>
          </a:xfrm>
          <a:prstGeom prst="rect">
            <a:avLst/>
          </a:prstGeom>
          <a:noFill/>
        </p:spPr>
        <p:txBody>
          <a:bodyPr wrap="square">
            <a:spAutoFit/>
          </a:bodyPr>
          <a:lstStyle/>
          <a:p>
            <a:pPr>
              <a:spcAft>
                <a:spcPts val="500"/>
              </a:spcAft>
              <a:defRPr sz="1300">
                <a:solidFill>
                  <a:srgbClr val="445577"/>
                </a:solidFill>
              </a:defRPr>
            </a:pPr>
            <a:r>
              <a:t>Positive gap → club is more prominent on Reddit than in press  (Grassroots Underdog)</a:t>
            </a:r>
          </a:p>
          <a:p>
            <a:pPr>
              <a:spcAft>
                <a:spcPts val="500"/>
              </a:spcAft>
              <a:defRPr sz="1300">
                <a:solidFill>
                  <a:srgbClr val="445577"/>
                </a:solidFill>
              </a:defRPr>
            </a:pPr>
            <a:r>
              <a:t>Negative gap → club is more prominent in press than on Reddit  (Institutional Legacy)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Four Club Types</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A median split on average press rank vs Reddit rank classifies all 29 clubs</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2743200" cy="466344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508760"/>
            <a:ext cx="2743200" cy="91440"/>
          </a:xfrm>
          <a:prstGeom prst="rect">
            <a:avLst/>
          </a:prstGeom>
          <a:solidFill>
            <a:srgbClr val="1D4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673352"/>
            <a:ext cx="2514600" cy="411480"/>
          </a:xfrm>
          <a:prstGeom prst="rect">
            <a:avLst/>
          </a:prstGeom>
          <a:noFill/>
        </p:spPr>
        <p:txBody>
          <a:bodyPr wrap="square">
            <a:spAutoFit/>
          </a:bodyPr>
          <a:lstStyle/>
          <a:p>
            <a:pPr algn="l"/>
            <a:r>
              <a:rPr sz="1200" b="1">
                <a:solidFill>
                  <a:srgbClr val="1D428A"/>
                </a:solidFill>
              </a:rPr>
              <a:t>INSTITUTIONAL LEGACY</a:t>
            </a:r>
          </a:p>
        </p:txBody>
      </p:sp>
      <p:sp>
        <p:nvSpPr>
          <p:cNvPr id="11" name="TextBox 10"/>
          <p:cNvSpPr txBox="1"/>
          <p:nvPr/>
        </p:nvSpPr>
        <p:spPr>
          <a:xfrm>
            <a:off x="521208" y="2103120"/>
            <a:ext cx="2514600" cy="347472"/>
          </a:xfrm>
          <a:prstGeom prst="rect">
            <a:avLst/>
          </a:prstGeom>
          <a:noFill/>
        </p:spPr>
        <p:txBody>
          <a:bodyPr wrap="square">
            <a:spAutoFit/>
          </a:bodyPr>
          <a:lstStyle/>
          <a:p>
            <a:pPr algn="l"/>
            <a:r>
              <a:rPr sz="1100" b="0">
                <a:solidFill>
                  <a:srgbClr val="445577"/>
                </a:solidFill>
              </a:rPr>
              <a:t>High press · Low Reddit</a:t>
            </a:r>
          </a:p>
        </p:txBody>
      </p:sp>
      <p:sp>
        <p:nvSpPr>
          <p:cNvPr id="12" name="TextBox 11"/>
          <p:cNvSpPr txBox="1"/>
          <p:nvPr/>
        </p:nvSpPr>
        <p:spPr>
          <a:xfrm>
            <a:off x="521208" y="2514600"/>
            <a:ext cx="2514600" cy="822960"/>
          </a:xfrm>
          <a:prstGeom prst="rect">
            <a:avLst/>
          </a:prstGeom>
          <a:noFill/>
        </p:spPr>
        <p:txBody>
          <a:bodyPr wrap="square">
            <a:spAutoFit/>
          </a:bodyPr>
          <a:lstStyle/>
          <a:p>
            <a:pPr algn="l"/>
            <a:r>
              <a:rPr sz="1300" b="1">
                <a:solidFill>
                  <a:srgbClr val="0D1A33"/>
                </a:solidFill>
              </a:rPr>
              <a:t>Toronto FC
LA Galaxy
CF Montreal</a:t>
            </a:r>
          </a:p>
        </p:txBody>
      </p:sp>
      <p:sp>
        <p:nvSpPr>
          <p:cNvPr id="13" name="TextBox 12"/>
          <p:cNvSpPr txBox="1"/>
          <p:nvPr/>
        </p:nvSpPr>
        <p:spPr>
          <a:xfrm>
            <a:off x="521208" y="3401568"/>
            <a:ext cx="2514600" cy="2468880"/>
          </a:xfrm>
          <a:prstGeom prst="rect">
            <a:avLst/>
          </a:prstGeom>
          <a:noFill/>
        </p:spPr>
        <p:txBody>
          <a:bodyPr wrap="square">
            <a:spAutoFit/>
          </a:bodyPr>
          <a:lstStyle/>
          <a:p>
            <a:pPr algn="l"/>
            <a:r>
              <a:rPr sz="1100" b="0">
                <a:solidFill>
                  <a:srgbClr val="445577"/>
                </a:solidFill>
              </a:rPr>
              <a:t>Historical capital keeps these clubs prominent in press long after their competitive peak.</a:t>
            </a:r>
          </a:p>
        </p:txBody>
      </p:sp>
      <p:sp>
        <p:nvSpPr>
          <p:cNvPr id="14" name="Rectangle 13"/>
          <p:cNvSpPr/>
          <p:nvPr/>
        </p:nvSpPr>
        <p:spPr>
          <a:xfrm>
            <a:off x="3355848" y="1508760"/>
            <a:ext cx="2743200" cy="466344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55848" y="1508760"/>
            <a:ext cx="2743200" cy="914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65576" y="1673352"/>
            <a:ext cx="2514600" cy="411480"/>
          </a:xfrm>
          <a:prstGeom prst="rect">
            <a:avLst/>
          </a:prstGeom>
          <a:noFill/>
        </p:spPr>
        <p:txBody>
          <a:bodyPr wrap="square">
            <a:spAutoFit/>
          </a:bodyPr>
          <a:lstStyle/>
          <a:p>
            <a:pPr algn="l"/>
            <a:r>
              <a:rPr sz="1200" b="1">
                <a:solidFill>
                  <a:srgbClr val="C8102E"/>
                </a:solidFill>
              </a:rPr>
              <a:t>GRASSROOTS UNDERDOGS</a:t>
            </a:r>
          </a:p>
        </p:txBody>
      </p:sp>
      <p:sp>
        <p:nvSpPr>
          <p:cNvPr id="17" name="TextBox 16"/>
          <p:cNvSpPr txBox="1"/>
          <p:nvPr/>
        </p:nvSpPr>
        <p:spPr>
          <a:xfrm>
            <a:off x="3465576" y="2103120"/>
            <a:ext cx="2514600" cy="347472"/>
          </a:xfrm>
          <a:prstGeom prst="rect">
            <a:avLst/>
          </a:prstGeom>
          <a:noFill/>
        </p:spPr>
        <p:txBody>
          <a:bodyPr wrap="square">
            <a:spAutoFit/>
          </a:bodyPr>
          <a:lstStyle/>
          <a:p>
            <a:pPr algn="l"/>
            <a:r>
              <a:rPr sz="1100" b="0">
                <a:solidFill>
                  <a:srgbClr val="445577"/>
                </a:solidFill>
              </a:rPr>
              <a:t>High Reddit · Lower press</a:t>
            </a:r>
          </a:p>
        </p:txBody>
      </p:sp>
      <p:sp>
        <p:nvSpPr>
          <p:cNvPr id="18" name="TextBox 17"/>
          <p:cNvSpPr txBox="1"/>
          <p:nvPr/>
        </p:nvSpPr>
        <p:spPr>
          <a:xfrm>
            <a:off x="3465576" y="2514600"/>
            <a:ext cx="2514600" cy="822960"/>
          </a:xfrm>
          <a:prstGeom prst="rect">
            <a:avLst/>
          </a:prstGeom>
          <a:noFill/>
        </p:spPr>
        <p:txBody>
          <a:bodyPr wrap="square">
            <a:spAutoFit/>
          </a:bodyPr>
          <a:lstStyle/>
          <a:p>
            <a:pPr algn="l"/>
            <a:r>
              <a:rPr sz="1300" b="1">
                <a:solidFill>
                  <a:srgbClr val="0D1A33"/>
                </a:solidFill>
              </a:rPr>
              <a:t>Philadelphia Union
Columbus Crew</a:t>
            </a:r>
          </a:p>
        </p:txBody>
      </p:sp>
      <p:sp>
        <p:nvSpPr>
          <p:cNvPr id="19" name="TextBox 18"/>
          <p:cNvSpPr txBox="1"/>
          <p:nvPr/>
        </p:nvSpPr>
        <p:spPr>
          <a:xfrm>
            <a:off x="3465576" y="3401568"/>
            <a:ext cx="2514600" cy="2468880"/>
          </a:xfrm>
          <a:prstGeom prst="rect">
            <a:avLst/>
          </a:prstGeom>
          <a:noFill/>
        </p:spPr>
        <p:txBody>
          <a:bodyPr wrap="square">
            <a:spAutoFit/>
          </a:bodyPr>
          <a:lstStyle/>
          <a:p>
            <a:pPr algn="l"/>
            <a:r>
              <a:rPr sz="1100" b="0">
                <a:solidFill>
                  <a:srgbClr val="445577"/>
                </a:solidFill>
              </a:rPr>
              <a:t>Fan communities are active and sophisticated — engagement exceeds the media footprint.</a:t>
            </a:r>
          </a:p>
        </p:txBody>
      </p:sp>
      <p:sp>
        <p:nvSpPr>
          <p:cNvPr id="20" name="Rectangle 19"/>
          <p:cNvSpPr/>
          <p:nvPr/>
        </p:nvSpPr>
        <p:spPr>
          <a:xfrm>
            <a:off x="6300216" y="1508760"/>
            <a:ext cx="2743200" cy="466344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0216" y="1508760"/>
            <a:ext cx="2743200" cy="91440"/>
          </a:xfrm>
          <a:prstGeom prst="rect">
            <a:avLst/>
          </a:prstGeom>
          <a:solidFill>
            <a:srgbClr val="22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9944" y="1673352"/>
            <a:ext cx="2514600" cy="411480"/>
          </a:xfrm>
          <a:prstGeom prst="rect">
            <a:avLst/>
          </a:prstGeom>
          <a:noFill/>
        </p:spPr>
        <p:txBody>
          <a:bodyPr wrap="square">
            <a:spAutoFit/>
          </a:bodyPr>
          <a:lstStyle/>
          <a:p>
            <a:pPr algn="l"/>
            <a:r>
              <a:rPr sz="1200" b="1">
                <a:solidFill>
                  <a:srgbClr val="227A3A"/>
                </a:solidFill>
              </a:rPr>
              <a:t>CONSENSUS STARS</a:t>
            </a:r>
          </a:p>
        </p:txBody>
      </p:sp>
      <p:sp>
        <p:nvSpPr>
          <p:cNvPr id="23" name="TextBox 22"/>
          <p:cNvSpPr txBox="1"/>
          <p:nvPr/>
        </p:nvSpPr>
        <p:spPr>
          <a:xfrm>
            <a:off x="6409944" y="2103120"/>
            <a:ext cx="2514600" cy="347472"/>
          </a:xfrm>
          <a:prstGeom prst="rect">
            <a:avLst/>
          </a:prstGeom>
          <a:noFill/>
        </p:spPr>
        <p:txBody>
          <a:bodyPr wrap="square">
            <a:spAutoFit/>
          </a:bodyPr>
          <a:lstStyle/>
          <a:p>
            <a:pPr algn="l"/>
            <a:r>
              <a:rPr sz="1100" b="0">
                <a:solidFill>
                  <a:srgbClr val="445577"/>
                </a:solidFill>
              </a:rPr>
              <a:t>High in both channels</a:t>
            </a:r>
          </a:p>
        </p:txBody>
      </p:sp>
      <p:sp>
        <p:nvSpPr>
          <p:cNvPr id="24" name="TextBox 23"/>
          <p:cNvSpPr txBox="1"/>
          <p:nvPr/>
        </p:nvSpPr>
        <p:spPr>
          <a:xfrm>
            <a:off x="6409944" y="2514600"/>
            <a:ext cx="2514600" cy="822960"/>
          </a:xfrm>
          <a:prstGeom prst="rect">
            <a:avLst/>
          </a:prstGeom>
          <a:noFill/>
        </p:spPr>
        <p:txBody>
          <a:bodyPr wrap="square">
            <a:spAutoFit/>
          </a:bodyPr>
          <a:lstStyle/>
          <a:p>
            <a:pPr algn="l"/>
            <a:r>
              <a:rPr sz="1300" b="1">
                <a:solidFill>
                  <a:srgbClr val="0D1A33"/>
                </a:solidFill>
              </a:rPr>
              <a:t>Inter Miami CF
Seattle Sounders</a:t>
            </a:r>
          </a:p>
        </p:txBody>
      </p:sp>
      <p:sp>
        <p:nvSpPr>
          <p:cNvPr id="25" name="TextBox 24"/>
          <p:cNvSpPr txBox="1"/>
          <p:nvPr/>
        </p:nvSpPr>
        <p:spPr>
          <a:xfrm>
            <a:off x="6409944" y="3401568"/>
            <a:ext cx="2514600" cy="2468880"/>
          </a:xfrm>
          <a:prstGeom prst="rect">
            <a:avLst/>
          </a:prstGeom>
          <a:noFill/>
        </p:spPr>
        <p:txBody>
          <a:bodyPr wrap="square">
            <a:spAutoFit/>
          </a:bodyPr>
          <a:lstStyle/>
          <a:p>
            <a:pPr algn="l"/>
            <a:r>
              <a:rPr sz="1100" b="0">
                <a:solidFill>
                  <a:srgbClr val="445577"/>
                </a:solidFill>
              </a:rPr>
              <a:t>Narrative and performance are aligned. Both channels agree these clubs matter.</a:t>
            </a:r>
          </a:p>
        </p:txBody>
      </p:sp>
      <p:sp>
        <p:nvSpPr>
          <p:cNvPr id="26" name="Rectangle 25"/>
          <p:cNvSpPr/>
          <p:nvPr/>
        </p:nvSpPr>
        <p:spPr>
          <a:xfrm>
            <a:off x="9244584" y="1508760"/>
            <a:ext cx="2743200" cy="466344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44584" y="1508760"/>
            <a:ext cx="2743200" cy="91440"/>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54311" y="1673352"/>
            <a:ext cx="2514600" cy="411480"/>
          </a:xfrm>
          <a:prstGeom prst="rect">
            <a:avLst/>
          </a:prstGeom>
          <a:noFill/>
        </p:spPr>
        <p:txBody>
          <a:bodyPr wrap="square">
            <a:spAutoFit/>
          </a:bodyPr>
          <a:lstStyle/>
          <a:p>
            <a:pPr algn="l"/>
            <a:r>
              <a:rPr sz="1200" b="1">
                <a:solidFill>
                  <a:srgbClr val="445577"/>
                </a:solidFill>
              </a:rPr>
              <a:t>LOW PROFILE</a:t>
            </a:r>
          </a:p>
        </p:txBody>
      </p:sp>
      <p:sp>
        <p:nvSpPr>
          <p:cNvPr id="29" name="TextBox 28"/>
          <p:cNvSpPr txBox="1"/>
          <p:nvPr/>
        </p:nvSpPr>
        <p:spPr>
          <a:xfrm>
            <a:off x="9354311" y="2103120"/>
            <a:ext cx="2514600" cy="347472"/>
          </a:xfrm>
          <a:prstGeom prst="rect">
            <a:avLst/>
          </a:prstGeom>
          <a:noFill/>
        </p:spPr>
        <p:txBody>
          <a:bodyPr wrap="square">
            <a:spAutoFit/>
          </a:bodyPr>
          <a:lstStyle/>
          <a:p>
            <a:pPr algn="l"/>
            <a:r>
              <a:rPr sz="1100" b="0">
                <a:solidFill>
                  <a:srgbClr val="445577"/>
                </a:solidFill>
              </a:rPr>
              <a:t>Low in both channels</a:t>
            </a:r>
          </a:p>
        </p:txBody>
      </p:sp>
      <p:sp>
        <p:nvSpPr>
          <p:cNvPr id="30" name="TextBox 29"/>
          <p:cNvSpPr txBox="1"/>
          <p:nvPr/>
        </p:nvSpPr>
        <p:spPr>
          <a:xfrm>
            <a:off x="9354311" y="2514600"/>
            <a:ext cx="2514600" cy="822960"/>
          </a:xfrm>
          <a:prstGeom prst="rect">
            <a:avLst/>
          </a:prstGeom>
          <a:noFill/>
        </p:spPr>
        <p:txBody>
          <a:bodyPr wrap="square">
            <a:spAutoFit/>
          </a:bodyPr>
          <a:lstStyle/>
          <a:p>
            <a:pPr algn="l"/>
            <a:r>
              <a:rPr sz="1300" b="1">
                <a:solidFill>
                  <a:srgbClr val="0D1A33"/>
                </a:solidFill>
              </a:rPr>
              <a:t>Nashville · San Jose
St. Louis · Colorado</a:t>
            </a:r>
          </a:p>
        </p:txBody>
      </p:sp>
      <p:sp>
        <p:nvSpPr>
          <p:cNvPr id="31" name="TextBox 30"/>
          <p:cNvSpPr txBox="1"/>
          <p:nvPr/>
        </p:nvSpPr>
        <p:spPr>
          <a:xfrm>
            <a:off x="9354311" y="3401568"/>
            <a:ext cx="2514600" cy="2468880"/>
          </a:xfrm>
          <a:prstGeom prst="rect">
            <a:avLst/>
          </a:prstGeom>
          <a:noFill/>
        </p:spPr>
        <p:txBody>
          <a:bodyPr wrap="square">
            <a:spAutoFit/>
          </a:bodyPr>
          <a:lstStyle/>
          <a:p>
            <a:pPr algn="l"/>
            <a:r>
              <a:rPr sz="1100" b="0">
                <a:solidFill>
                  <a:srgbClr val="445577"/>
                </a:solidFill>
              </a:rPr>
              <a:t>Expansion clubs and small markets that haven't established a narrative footprint yet.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Five Case Studies</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Each club illustrates a different version of how press and fan narratives can diverge</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3749039" cy="23317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18488"/>
            <a:ext cx="3474720" cy="411480"/>
          </a:xfrm>
          <a:prstGeom prst="rect">
            <a:avLst/>
          </a:prstGeom>
          <a:noFill/>
        </p:spPr>
        <p:txBody>
          <a:bodyPr wrap="square">
            <a:spAutoFit/>
          </a:bodyPr>
          <a:lstStyle/>
          <a:p>
            <a:pPr algn="l"/>
            <a:r>
              <a:rPr sz="1400" b="1">
                <a:solidFill>
                  <a:srgbClr val="0D1A33"/>
                </a:solidFill>
              </a:rPr>
              <a:t>Toronto FC</a:t>
            </a:r>
          </a:p>
        </p:txBody>
      </p:sp>
      <p:sp>
        <p:nvSpPr>
          <p:cNvPr id="10" name="TextBox 9"/>
          <p:cNvSpPr txBox="1"/>
          <p:nvPr/>
        </p:nvSpPr>
        <p:spPr>
          <a:xfrm>
            <a:off x="548640" y="2011680"/>
            <a:ext cx="3474720" cy="320040"/>
          </a:xfrm>
          <a:prstGeom prst="rect">
            <a:avLst/>
          </a:prstGeom>
          <a:noFill/>
        </p:spPr>
        <p:txBody>
          <a:bodyPr wrap="square">
            <a:spAutoFit/>
          </a:bodyPr>
          <a:lstStyle/>
          <a:p>
            <a:pPr algn="l"/>
            <a:r>
              <a:rPr sz="1100" b="1">
                <a:solidFill>
                  <a:srgbClr val="1D428A"/>
                </a:solidFill>
              </a:rPr>
              <a:t>Institutional Legacy</a:t>
            </a:r>
          </a:p>
        </p:txBody>
      </p:sp>
      <p:sp>
        <p:nvSpPr>
          <p:cNvPr id="11" name="TextBox 10"/>
          <p:cNvSpPr txBox="1"/>
          <p:nvPr/>
        </p:nvSpPr>
        <p:spPr>
          <a:xfrm>
            <a:off x="548640" y="2350008"/>
            <a:ext cx="3474720" cy="1371600"/>
          </a:xfrm>
          <a:prstGeom prst="rect">
            <a:avLst/>
          </a:prstGeom>
          <a:noFill/>
        </p:spPr>
        <p:txBody>
          <a:bodyPr wrap="square">
            <a:spAutoFit/>
          </a:bodyPr>
          <a:lstStyle/>
          <a:p>
            <a:pPr algn="l"/>
            <a:r>
              <a:rPr sz="1100" b="0">
                <a:solidFill>
                  <a:srgbClr val="445577"/>
                </a:solidFill>
              </a:rPr>
              <a:t>Press rank: 6.0  ·  Reddit: 19.4
Gap: +1 (2018) → +21 (2022)
Bottom-3 EC every year 2020–2024
Still ranked top-4 in press in 2024</a:t>
            </a:r>
          </a:p>
        </p:txBody>
      </p:sp>
      <p:sp>
        <p:nvSpPr>
          <p:cNvPr id="12" name="Rectangle 11"/>
          <p:cNvSpPr/>
          <p:nvPr/>
        </p:nvSpPr>
        <p:spPr>
          <a:xfrm>
            <a:off x="4343400" y="1508760"/>
            <a:ext cx="3749039" cy="23317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618488"/>
            <a:ext cx="3474720" cy="411480"/>
          </a:xfrm>
          <a:prstGeom prst="rect">
            <a:avLst/>
          </a:prstGeom>
          <a:noFill/>
        </p:spPr>
        <p:txBody>
          <a:bodyPr wrap="square">
            <a:spAutoFit/>
          </a:bodyPr>
          <a:lstStyle/>
          <a:p>
            <a:pPr algn="l"/>
            <a:r>
              <a:rPr sz="1400" b="1">
                <a:solidFill>
                  <a:srgbClr val="0D1A33"/>
                </a:solidFill>
              </a:rPr>
              <a:t>CF Montreal</a:t>
            </a:r>
          </a:p>
        </p:txBody>
      </p:sp>
      <p:sp>
        <p:nvSpPr>
          <p:cNvPr id="14" name="TextBox 13"/>
          <p:cNvSpPr txBox="1"/>
          <p:nvPr/>
        </p:nvSpPr>
        <p:spPr>
          <a:xfrm>
            <a:off x="4480560" y="2011680"/>
            <a:ext cx="3474720" cy="320040"/>
          </a:xfrm>
          <a:prstGeom prst="rect">
            <a:avLst/>
          </a:prstGeom>
          <a:noFill/>
        </p:spPr>
        <p:txBody>
          <a:bodyPr wrap="square">
            <a:spAutoFit/>
          </a:bodyPr>
          <a:lstStyle/>
          <a:p>
            <a:pPr algn="l"/>
            <a:r>
              <a:rPr sz="1100" b="1">
                <a:solidFill>
                  <a:srgbClr val="1D428A"/>
                </a:solidFill>
              </a:rPr>
              <a:t>Institutional Legacy</a:t>
            </a:r>
          </a:p>
        </p:txBody>
      </p:sp>
      <p:sp>
        <p:nvSpPr>
          <p:cNvPr id="15" name="TextBox 14"/>
          <p:cNvSpPr txBox="1"/>
          <p:nvPr/>
        </p:nvSpPr>
        <p:spPr>
          <a:xfrm>
            <a:off x="4480560" y="2350008"/>
            <a:ext cx="3474720" cy="1371600"/>
          </a:xfrm>
          <a:prstGeom prst="rect">
            <a:avLst/>
          </a:prstGeom>
          <a:noFill/>
        </p:spPr>
        <p:txBody>
          <a:bodyPr wrap="square">
            <a:spAutoFit/>
          </a:bodyPr>
          <a:lstStyle/>
          <a:p>
            <a:pPr algn="l"/>
            <a:r>
              <a:rPr sz="1100" b="0">
                <a:solidFill>
                  <a:srgbClr val="445577"/>
                </a:solidFill>
              </a:rPr>
              <a:t>Press rank: 3.9  ·  Reddit: 12.0
Note: r/cfmontreal not in dataset
Reddit side likely underestimated
Conference finalist in 2021</a:t>
            </a:r>
          </a:p>
        </p:txBody>
      </p:sp>
      <p:sp>
        <p:nvSpPr>
          <p:cNvPr id="16" name="Rectangle 15"/>
          <p:cNvSpPr/>
          <p:nvPr/>
        </p:nvSpPr>
        <p:spPr>
          <a:xfrm>
            <a:off x="8275319" y="1508760"/>
            <a:ext cx="3749039" cy="23317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1618488"/>
            <a:ext cx="3474720" cy="411480"/>
          </a:xfrm>
          <a:prstGeom prst="rect">
            <a:avLst/>
          </a:prstGeom>
          <a:noFill/>
        </p:spPr>
        <p:txBody>
          <a:bodyPr wrap="square">
            <a:spAutoFit/>
          </a:bodyPr>
          <a:lstStyle/>
          <a:p>
            <a:pPr algn="l"/>
            <a:r>
              <a:rPr sz="1400" b="1">
                <a:solidFill>
                  <a:srgbClr val="0D1A33"/>
                </a:solidFill>
              </a:rPr>
              <a:t>Philadelphia Union</a:t>
            </a:r>
          </a:p>
        </p:txBody>
      </p:sp>
      <p:sp>
        <p:nvSpPr>
          <p:cNvPr id="18" name="TextBox 17"/>
          <p:cNvSpPr txBox="1"/>
          <p:nvPr/>
        </p:nvSpPr>
        <p:spPr>
          <a:xfrm>
            <a:off x="8412480" y="2011680"/>
            <a:ext cx="3474720" cy="320040"/>
          </a:xfrm>
          <a:prstGeom prst="rect">
            <a:avLst/>
          </a:prstGeom>
          <a:noFill/>
        </p:spPr>
        <p:txBody>
          <a:bodyPr wrap="square">
            <a:spAutoFit/>
          </a:bodyPr>
          <a:lstStyle/>
          <a:p>
            <a:pPr algn="l"/>
            <a:r>
              <a:rPr sz="1100" b="1">
                <a:solidFill>
                  <a:srgbClr val="1D428A"/>
                </a:solidFill>
              </a:rPr>
              <a:t>Grassroots Underdog</a:t>
            </a:r>
          </a:p>
        </p:txBody>
      </p:sp>
      <p:sp>
        <p:nvSpPr>
          <p:cNvPr id="19" name="TextBox 18"/>
          <p:cNvSpPr txBox="1"/>
          <p:nvPr/>
        </p:nvSpPr>
        <p:spPr>
          <a:xfrm>
            <a:off x="8412480" y="2350008"/>
            <a:ext cx="3474720" cy="1371600"/>
          </a:xfrm>
          <a:prstGeom prst="rect">
            <a:avLst/>
          </a:prstGeom>
          <a:noFill/>
        </p:spPr>
        <p:txBody>
          <a:bodyPr wrap="square">
            <a:spAutoFit/>
          </a:bodyPr>
          <a:lstStyle/>
          <a:p>
            <a:pPr algn="l"/>
            <a:r>
              <a:rPr sz="1100" b="0">
                <a:solidFill>
                  <a:srgbClr val="445577"/>
                </a:solidFill>
              </a:rPr>
              <a:t>Reddit rank: 6.0  ·  Press rank: 9
MLS Cup finalist 2022
Top-5 xPoints multiple seasons
Fan community outpaces coverage</a:t>
            </a:r>
          </a:p>
        </p:txBody>
      </p:sp>
      <p:sp>
        <p:nvSpPr>
          <p:cNvPr id="20" name="Rectangle 19"/>
          <p:cNvSpPr/>
          <p:nvPr/>
        </p:nvSpPr>
        <p:spPr>
          <a:xfrm>
            <a:off x="411480" y="4023360"/>
            <a:ext cx="3749039" cy="23317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4133088"/>
            <a:ext cx="3474720" cy="411480"/>
          </a:xfrm>
          <a:prstGeom prst="rect">
            <a:avLst/>
          </a:prstGeom>
          <a:noFill/>
        </p:spPr>
        <p:txBody>
          <a:bodyPr wrap="square">
            <a:spAutoFit/>
          </a:bodyPr>
          <a:lstStyle/>
          <a:p>
            <a:pPr algn="l"/>
            <a:r>
              <a:rPr sz="1400" b="1">
                <a:solidFill>
                  <a:srgbClr val="0D1A33"/>
                </a:solidFill>
              </a:rPr>
              <a:t>Charlotte FC</a:t>
            </a:r>
          </a:p>
        </p:txBody>
      </p:sp>
      <p:sp>
        <p:nvSpPr>
          <p:cNvPr id="22" name="TextBox 21"/>
          <p:cNvSpPr txBox="1"/>
          <p:nvPr/>
        </p:nvSpPr>
        <p:spPr>
          <a:xfrm>
            <a:off x="548640" y="4526280"/>
            <a:ext cx="3474720" cy="320040"/>
          </a:xfrm>
          <a:prstGeom prst="rect">
            <a:avLst/>
          </a:prstGeom>
          <a:noFill/>
        </p:spPr>
        <p:txBody>
          <a:bodyPr wrap="square">
            <a:spAutoFit/>
          </a:bodyPr>
          <a:lstStyle/>
          <a:p>
            <a:pPr algn="l"/>
            <a:r>
              <a:rPr sz="1100" b="1">
                <a:solidFill>
                  <a:srgbClr val="1D428A"/>
                </a:solidFill>
              </a:rPr>
              <a:t>Expansion Over-hype</a:t>
            </a:r>
          </a:p>
        </p:txBody>
      </p:sp>
      <p:sp>
        <p:nvSpPr>
          <p:cNvPr id="23" name="TextBox 22"/>
          <p:cNvSpPr txBox="1"/>
          <p:nvPr/>
        </p:nvSpPr>
        <p:spPr>
          <a:xfrm>
            <a:off x="548640" y="4864608"/>
            <a:ext cx="3474720" cy="1371600"/>
          </a:xfrm>
          <a:prstGeom prst="rect">
            <a:avLst/>
          </a:prstGeom>
          <a:noFill/>
        </p:spPr>
        <p:txBody>
          <a:bodyPr wrap="square">
            <a:spAutoFit/>
          </a:bodyPr>
          <a:lstStyle/>
          <a:p>
            <a:pPr algn="l"/>
            <a:r>
              <a:rPr sz="1100" b="0">
                <a:solidFill>
                  <a:srgbClr val="445577"/>
                </a:solidFill>
              </a:rPr>
              <a:t>Press rank 22 at launch · Reddit rank 8
New stadium + DP signings = press
Fan community depth takes years
Gap closes as novelty fades</a:t>
            </a:r>
          </a:p>
        </p:txBody>
      </p:sp>
      <p:sp>
        <p:nvSpPr>
          <p:cNvPr id="24" name="Rectangle 23"/>
          <p:cNvSpPr/>
          <p:nvPr/>
        </p:nvSpPr>
        <p:spPr>
          <a:xfrm>
            <a:off x="4343400" y="4023360"/>
            <a:ext cx="3749039" cy="2331720"/>
          </a:xfrm>
          <a:prstGeom prst="rect">
            <a:avLst/>
          </a:prstGeom>
          <a:solidFill>
            <a:srgbClr val="F7F8FC"/>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60" y="4133088"/>
            <a:ext cx="3474720" cy="411480"/>
          </a:xfrm>
          <a:prstGeom prst="rect">
            <a:avLst/>
          </a:prstGeom>
          <a:noFill/>
        </p:spPr>
        <p:txBody>
          <a:bodyPr wrap="square">
            <a:spAutoFit/>
          </a:bodyPr>
          <a:lstStyle/>
          <a:p>
            <a:pPr algn="l"/>
            <a:r>
              <a:rPr sz="1400" b="1">
                <a:solidFill>
                  <a:srgbClr val="0D1A33"/>
                </a:solidFill>
              </a:rPr>
              <a:t>Inter Miami / Seattle</a:t>
            </a:r>
          </a:p>
        </p:txBody>
      </p:sp>
      <p:sp>
        <p:nvSpPr>
          <p:cNvPr id="26" name="TextBox 25"/>
          <p:cNvSpPr txBox="1"/>
          <p:nvPr/>
        </p:nvSpPr>
        <p:spPr>
          <a:xfrm>
            <a:off x="4480560" y="4526280"/>
            <a:ext cx="3474720" cy="320040"/>
          </a:xfrm>
          <a:prstGeom prst="rect">
            <a:avLst/>
          </a:prstGeom>
          <a:noFill/>
        </p:spPr>
        <p:txBody>
          <a:bodyPr wrap="square">
            <a:spAutoFit/>
          </a:bodyPr>
          <a:lstStyle/>
          <a:p>
            <a:pPr algn="l"/>
            <a:r>
              <a:rPr sz="1100" b="1">
                <a:solidFill>
                  <a:srgbClr val="1D428A"/>
                </a:solidFill>
              </a:rPr>
              <a:t>Consensus Stars</a:t>
            </a:r>
          </a:p>
        </p:txBody>
      </p:sp>
      <p:sp>
        <p:nvSpPr>
          <p:cNvPr id="27" name="TextBox 26"/>
          <p:cNvSpPr txBox="1"/>
          <p:nvPr/>
        </p:nvSpPr>
        <p:spPr>
          <a:xfrm>
            <a:off x="4480560" y="4864608"/>
            <a:ext cx="3474720" cy="1371600"/>
          </a:xfrm>
          <a:prstGeom prst="rect">
            <a:avLst/>
          </a:prstGeom>
          <a:noFill/>
        </p:spPr>
        <p:txBody>
          <a:bodyPr wrap="square">
            <a:spAutoFit/>
          </a:bodyPr>
          <a:lstStyle/>
          <a:p>
            <a:pPr algn="l"/>
            <a:r>
              <a:rPr sz="1100" b="0">
                <a:solidFill>
                  <a:srgbClr val="445577"/>
                </a:solidFill>
              </a:rPr>
              <a:t>High in both channels
Seattle: 3 MLS Cup appearances
Inter Miami: Messi arrival 2023
Strong press + fan alignment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RQ2: Does One Channel Lead the Other?</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Granger causality test on the 7-year aggregate sentiment series</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274320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81913"/>
            <a:ext cx="2395728" cy="584775"/>
          </a:xfrm>
          <a:prstGeom prst="rect">
            <a:avLst/>
          </a:prstGeom>
          <a:noFill/>
        </p:spPr>
        <p:txBody>
          <a:bodyPr wrap="square">
            <a:spAutoFit/>
          </a:bodyPr>
          <a:lstStyle/>
          <a:p>
            <a:pPr algn="ctr"/>
            <a:r>
              <a:rPr sz="3200" b="1" dirty="0">
                <a:solidFill>
                  <a:srgbClr val="FFFFFF"/>
                </a:solidFill>
              </a:rPr>
              <a:t>0.461–0.576</a:t>
            </a:r>
          </a:p>
        </p:txBody>
      </p:sp>
      <p:sp>
        <p:nvSpPr>
          <p:cNvPr id="10" name="TextBox 9"/>
          <p:cNvSpPr txBox="1"/>
          <p:nvPr/>
        </p:nvSpPr>
        <p:spPr>
          <a:xfrm>
            <a:off x="411480" y="2308860"/>
            <a:ext cx="2560320" cy="457200"/>
          </a:xfrm>
          <a:prstGeom prst="rect">
            <a:avLst/>
          </a:prstGeom>
          <a:noFill/>
        </p:spPr>
        <p:txBody>
          <a:bodyPr wrap="square">
            <a:spAutoFit/>
          </a:bodyPr>
          <a:lstStyle/>
          <a:p>
            <a:pPr algn="ctr"/>
            <a:r>
              <a:rPr sz="1000" b="0" dirty="0">
                <a:solidFill>
                  <a:srgbClr val="BBCCFF"/>
                </a:solidFill>
              </a:rPr>
              <a:t>Press VADER
sentiment range</a:t>
            </a:r>
          </a:p>
        </p:txBody>
      </p:sp>
      <p:sp>
        <p:nvSpPr>
          <p:cNvPr id="11" name="Rectangle 10"/>
          <p:cNvSpPr/>
          <p:nvPr/>
        </p:nvSpPr>
        <p:spPr>
          <a:xfrm>
            <a:off x="3291840" y="1508760"/>
            <a:ext cx="274320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581912"/>
            <a:ext cx="2560320" cy="584775"/>
          </a:xfrm>
          <a:prstGeom prst="rect">
            <a:avLst/>
          </a:prstGeom>
          <a:noFill/>
        </p:spPr>
        <p:txBody>
          <a:bodyPr wrap="square">
            <a:spAutoFit/>
          </a:bodyPr>
          <a:lstStyle/>
          <a:p>
            <a:pPr algn="ctr"/>
            <a:r>
              <a:rPr sz="3200" b="1" dirty="0">
                <a:solidFill>
                  <a:srgbClr val="FFFFFF"/>
                </a:solidFill>
              </a:rPr>
              <a:t>0.239–0.305</a:t>
            </a:r>
            <a:endParaRPr sz="3800" b="1" dirty="0">
              <a:solidFill>
                <a:srgbClr val="FFFFFF"/>
              </a:solidFill>
            </a:endParaRPr>
          </a:p>
        </p:txBody>
      </p:sp>
      <p:sp>
        <p:nvSpPr>
          <p:cNvPr id="13" name="TextBox 12"/>
          <p:cNvSpPr txBox="1"/>
          <p:nvPr/>
        </p:nvSpPr>
        <p:spPr>
          <a:xfrm>
            <a:off x="3383280" y="2258568"/>
            <a:ext cx="2560320" cy="457200"/>
          </a:xfrm>
          <a:prstGeom prst="rect">
            <a:avLst/>
          </a:prstGeom>
          <a:noFill/>
        </p:spPr>
        <p:txBody>
          <a:bodyPr wrap="square">
            <a:spAutoFit/>
          </a:bodyPr>
          <a:lstStyle/>
          <a:p>
            <a:pPr algn="ctr"/>
            <a:r>
              <a:rPr sz="1000" b="0">
                <a:solidFill>
                  <a:srgbClr val="BBCCFF"/>
                </a:solidFill>
              </a:rPr>
              <a:t>Reddit VADER
sentiment range</a:t>
            </a:r>
          </a:p>
        </p:txBody>
      </p:sp>
      <p:sp>
        <p:nvSpPr>
          <p:cNvPr id="14" name="Rectangle 13"/>
          <p:cNvSpPr/>
          <p:nvPr/>
        </p:nvSpPr>
        <p:spPr>
          <a:xfrm>
            <a:off x="6172200" y="1508760"/>
            <a:ext cx="274320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581912"/>
            <a:ext cx="2560320" cy="640080"/>
          </a:xfrm>
          <a:prstGeom prst="rect">
            <a:avLst/>
          </a:prstGeom>
          <a:noFill/>
        </p:spPr>
        <p:txBody>
          <a:bodyPr wrap="square">
            <a:spAutoFit/>
          </a:bodyPr>
          <a:lstStyle/>
          <a:p>
            <a:pPr algn="ctr"/>
            <a:r>
              <a:rPr sz="3800" b="1">
                <a:solidFill>
                  <a:srgbClr val="FFFFFF"/>
                </a:solidFill>
              </a:rPr>
              <a:t>p=.718</a:t>
            </a:r>
          </a:p>
        </p:txBody>
      </p:sp>
      <p:sp>
        <p:nvSpPr>
          <p:cNvPr id="16" name="TextBox 15"/>
          <p:cNvSpPr txBox="1"/>
          <p:nvPr/>
        </p:nvSpPr>
        <p:spPr>
          <a:xfrm>
            <a:off x="6263640" y="2258568"/>
            <a:ext cx="2560320" cy="457200"/>
          </a:xfrm>
          <a:prstGeom prst="rect">
            <a:avLst/>
          </a:prstGeom>
          <a:noFill/>
        </p:spPr>
        <p:txBody>
          <a:bodyPr wrap="square">
            <a:spAutoFit/>
          </a:bodyPr>
          <a:lstStyle/>
          <a:p>
            <a:pPr algn="ctr"/>
            <a:r>
              <a:rPr sz="1000" b="0">
                <a:solidFill>
                  <a:srgbClr val="BBCCFF"/>
                </a:solidFill>
              </a:rPr>
              <a:t>Press→Reddit
Granger test</a:t>
            </a:r>
          </a:p>
        </p:txBody>
      </p:sp>
      <p:sp>
        <p:nvSpPr>
          <p:cNvPr id="17" name="Rectangle 16"/>
          <p:cNvSpPr/>
          <p:nvPr/>
        </p:nvSpPr>
        <p:spPr>
          <a:xfrm>
            <a:off x="9052560" y="1508760"/>
            <a:ext cx="2651760" cy="128016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0" y="1581912"/>
            <a:ext cx="2468879" cy="640080"/>
          </a:xfrm>
          <a:prstGeom prst="rect">
            <a:avLst/>
          </a:prstGeom>
          <a:noFill/>
        </p:spPr>
        <p:txBody>
          <a:bodyPr wrap="square">
            <a:spAutoFit/>
          </a:bodyPr>
          <a:lstStyle/>
          <a:p>
            <a:pPr algn="ctr"/>
            <a:r>
              <a:rPr sz="3800" b="1">
                <a:solidFill>
                  <a:srgbClr val="FFFFFF"/>
                </a:solidFill>
              </a:rPr>
              <a:t>p=.603</a:t>
            </a:r>
          </a:p>
        </p:txBody>
      </p:sp>
      <p:sp>
        <p:nvSpPr>
          <p:cNvPr id="19" name="TextBox 18"/>
          <p:cNvSpPr txBox="1"/>
          <p:nvPr/>
        </p:nvSpPr>
        <p:spPr>
          <a:xfrm>
            <a:off x="9144000" y="2258568"/>
            <a:ext cx="2468879" cy="457200"/>
          </a:xfrm>
          <a:prstGeom prst="rect">
            <a:avLst/>
          </a:prstGeom>
          <a:noFill/>
        </p:spPr>
        <p:txBody>
          <a:bodyPr wrap="square">
            <a:spAutoFit/>
          </a:bodyPr>
          <a:lstStyle/>
          <a:p>
            <a:pPr algn="ctr"/>
            <a:r>
              <a:rPr sz="1000" b="0">
                <a:solidFill>
                  <a:srgbClr val="BBCCFF"/>
                </a:solidFill>
              </a:rPr>
              <a:t>Reddit→Press
Granger test</a:t>
            </a:r>
          </a:p>
        </p:txBody>
      </p:sp>
      <p:sp>
        <p:nvSpPr>
          <p:cNvPr id="20" name="TextBox 19"/>
          <p:cNvSpPr txBox="1"/>
          <p:nvPr/>
        </p:nvSpPr>
        <p:spPr>
          <a:xfrm>
            <a:off x="411480" y="3028153"/>
            <a:ext cx="10972800" cy="347472"/>
          </a:xfrm>
          <a:prstGeom prst="rect">
            <a:avLst/>
          </a:prstGeom>
          <a:noFill/>
        </p:spPr>
        <p:txBody>
          <a:bodyPr wrap="square">
            <a:spAutoFit/>
          </a:bodyPr>
          <a:lstStyle/>
          <a:p>
            <a:pPr algn="l"/>
            <a:r>
              <a:rPr sz="1200" b="1">
                <a:solidFill>
                  <a:srgbClr val="1D428A"/>
                </a:solidFill>
              </a:rPr>
              <a:t>WHAT THIS TELLS US</a:t>
            </a:r>
          </a:p>
        </p:txBody>
      </p:sp>
      <p:sp>
        <p:nvSpPr>
          <p:cNvPr id="21" name="TextBox 20"/>
          <p:cNvSpPr txBox="1"/>
          <p:nvPr/>
        </p:nvSpPr>
        <p:spPr>
          <a:xfrm>
            <a:off x="411480" y="3401568"/>
            <a:ext cx="11338560" cy="2743200"/>
          </a:xfrm>
          <a:prstGeom prst="rect">
            <a:avLst/>
          </a:prstGeom>
          <a:noFill/>
        </p:spPr>
        <p:txBody>
          <a:bodyPr wrap="square">
            <a:spAutoFit/>
          </a:bodyPr>
          <a:lstStyle/>
          <a:p>
            <a:pPr>
              <a:spcAft>
                <a:spcPts val="500"/>
              </a:spcAft>
              <a:defRPr sz="1300">
                <a:solidFill>
                  <a:srgbClr val="445577"/>
                </a:solidFill>
              </a:defRPr>
            </a:pPr>
            <a:r>
              <a:t>Press sentiment is consistently higher than Reddit — journalists are more positive and promotional than fans</a:t>
            </a:r>
          </a:p>
          <a:p>
            <a:pPr>
              <a:spcAft>
                <a:spcPts val="500"/>
              </a:spcAft>
              <a:defRPr sz="1300">
                <a:solidFill>
                  <a:srgbClr val="445577"/>
                </a:solidFill>
              </a:defRPr>
            </a:pPr>
            <a:r>
              <a:t>Both series are non-stationary (ADF: press p=.125, Reddit p=.256) — they move together but don't trend</a:t>
            </a:r>
          </a:p>
          <a:p>
            <a:pPr>
              <a:spcAft>
                <a:spcPts val="500"/>
              </a:spcAft>
              <a:defRPr sz="1300">
                <a:solidFill>
                  <a:srgbClr val="445577"/>
                </a:solidFill>
              </a:defRPr>
            </a:pPr>
            <a:r>
              <a:t>Neither Granger test is significant — press doesn't lead Reddit, and Reddit doesn't lead press</a:t>
            </a:r>
          </a:p>
          <a:p>
            <a:pPr>
              <a:spcAft>
                <a:spcPts val="500"/>
              </a:spcAft>
              <a:defRPr sz="1300">
                <a:solidFill>
                  <a:srgbClr val="445577"/>
                </a:solidFill>
              </a:defRPr>
            </a:pPr>
            <a:r>
              <a:t>Most likely explanation: both respond to the same events (COVID, Messi, expansion) simultaneously</a:t>
            </a:r>
          </a:p>
          <a:p>
            <a:pPr>
              <a:spcAft>
                <a:spcPts val="500"/>
              </a:spcAft>
              <a:defRPr sz="1300">
                <a:solidFill>
                  <a:srgbClr val="445577"/>
                </a:solidFill>
              </a:defRPr>
            </a:pPr>
            <a:r>
              <a:t>Critical caveat: N=7 annual observations is too small for reliable Granger testing</a:t>
            </a:r>
          </a:p>
          <a:p>
            <a:pPr>
              <a:spcAft>
                <a:spcPts val="500"/>
              </a:spcAft>
              <a:defRPr sz="1300">
                <a:solidFill>
                  <a:srgbClr val="445577"/>
                </a:solidFill>
              </a:defRPr>
            </a:pPr>
            <a:r>
              <a:t>The monthly series (N=84) is available in this dataset — that's where future work should go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74320"/>
            <a:ext cx="11338560" cy="685800"/>
          </a:xfrm>
          <a:prstGeom prst="rect">
            <a:avLst/>
          </a:prstGeom>
          <a:noFill/>
        </p:spPr>
        <p:txBody>
          <a:bodyPr wrap="square">
            <a:spAutoFit/>
          </a:bodyPr>
          <a:lstStyle/>
          <a:p>
            <a:pPr algn="l"/>
            <a:r>
              <a:rPr sz="3400" b="1">
                <a:solidFill>
                  <a:srgbClr val="0D1A33"/>
                </a:solidFill>
              </a:rPr>
              <a:t>RQ3 + Key Takeaways</a:t>
            </a:r>
          </a:p>
        </p:txBody>
      </p:sp>
      <p:sp>
        <p:nvSpPr>
          <p:cNvPr id="4" name="TextBox 3"/>
          <p:cNvSpPr txBox="1"/>
          <p:nvPr/>
        </p:nvSpPr>
        <p:spPr>
          <a:xfrm>
            <a:off x="411480" y="960120"/>
            <a:ext cx="11338560" cy="365760"/>
          </a:xfrm>
          <a:prstGeom prst="rect">
            <a:avLst/>
          </a:prstGeom>
          <a:noFill/>
        </p:spPr>
        <p:txBody>
          <a:bodyPr wrap="square">
            <a:spAutoFit/>
          </a:bodyPr>
          <a:lstStyle/>
          <a:p>
            <a:pPr algn="l"/>
            <a:r>
              <a:rPr sz="1300" b="0">
                <a:solidFill>
                  <a:srgbClr val="445577"/>
                </a:solidFill>
              </a:rPr>
              <a:t>The press-Reddit gap characterizes club types — but does not forecast commercial outcomes</a:t>
            </a:r>
          </a:p>
        </p:txBody>
      </p:sp>
      <p:sp>
        <p:nvSpPr>
          <p:cNvPr id="5" name="Rectangle 4"/>
          <p:cNvSpPr/>
          <p:nvPr/>
        </p:nvSpPr>
        <p:spPr>
          <a:xfrm>
            <a:off x="411480" y="1353312"/>
            <a:ext cx="11338560" cy="27432"/>
          </a:xfrm>
          <a:prstGeom prst="rect">
            <a:avLst/>
          </a:prstGeom>
          <a:solidFill>
            <a:srgbClr val="DD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
        <p:nvSpPr>
          <p:cNvPr id="8" name="Rectangle 7"/>
          <p:cNvSpPr/>
          <p:nvPr/>
        </p:nvSpPr>
        <p:spPr>
          <a:xfrm>
            <a:off x="411480" y="1508760"/>
            <a:ext cx="11338560" cy="1280160"/>
          </a:xfrm>
          <a:prstGeom prst="rect">
            <a:avLst/>
          </a:prstGeom>
          <a:solidFill>
            <a:srgbClr val="F0F3F9"/>
          </a:solidFill>
          <a:ln>
            <a:solidFill>
              <a:srgbClr val="DD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600200"/>
            <a:ext cx="2743200" cy="365760"/>
          </a:xfrm>
          <a:prstGeom prst="rect">
            <a:avLst/>
          </a:prstGeom>
          <a:noFill/>
        </p:spPr>
        <p:txBody>
          <a:bodyPr wrap="square">
            <a:spAutoFit/>
          </a:bodyPr>
          <a:lstStyle/>
          <a:p>
            <a:pPr algn="l"/>
            <a:r>
              <a:rPr sz="1400" b="1">
                <a:solidFill>
                  <a:srgbClr val="0D1A33"/>
                </a:solidFill>
              </a:rPr>
              <a:t>RQ3 Answer:</a:t>
            </a:r>
          </a:p>
        </p:txBody>
      </p:sp>
      <p:sp>
        <p:nvSpPr>
          <p:cNvPr id="10" name="TextBox 9"/>
          <p:cNvSpPr txBox="1"/>
          <p:nvPr/>
        </p:nvSpPr>
        <p:spPr>
          <a:xfrm>
            <a:off x="594360" y="1993392"/>
            <a:ext cx="10789920" cy="457200"/>
          </a:xfrm>
          <a:prstGeom prst="rect">
            <a:avLst/>
          </a:prstGeom>
          <a:noFill/>
        </p:spPr>
        <p:txBody>
          <a:bodyPr wrap="square">
            <a:spAutoFit/>
          </a:bodyPr>
          <a:lstStyle/>
          <a:p>
            <a:pPr algn="l"/>
            <a:r>
              <a:rPr sz="1500" b="1">
                <a:solidFill>
                  <a:srgbClr val="C8102E"/>
                </a:solidFill>
              </a:rPr>
              <a:t>r = −0.012 between rank gap and next-year valuation change   →   No predictive relationship</a:t>
            </a:r>
          </a:p>
        </p:txBody>
      </p:sp>
      <p:sp>
        <p:nvSpPr>
          <p:cNvPr id="11" name="TextBox 10"/>
          <p:cNvSpPr txBox="1"/>
          <p:nvPr/>
        </p:nvSpPr>
        <p:spPr>
          <a:xfrm>
            <a:off x="411480" y="2971800"/>
            <a:ext cx="10972800" cy="347472"/>
          </a:xfrm>
          <a:prstGeom prst="rect">
            <a:avLst/>
          </a:prstGeom>
          <a:noFill/>
        </p:spPr>
        <p:txBody>
          <a:bodyPr wrap="square">
            <a:spAutoFit/>
          </a:bodyPr>
          <a:lstStyle/>
          <a:p>
            <a:pPr algn="l"/>
            <a:r>
              <a:rPr sz="1200" b="1">
                <a:solidFill>
                  <a:srgbClr val="1D428A"/>
                </a:solidFill>
              </a:rPr>
              <a:t>THE GAP IS A DIAGNOSTIC TOOL, NOT A PREDICTIVE ONE</a:t>
            </a:r>
          </a:p>
        </p:txBody>
      </p:sp>
      <p:sp>
        <p:nvSpPr>
          <p:cNvPr id="12" name="TextBox 11"/>
          <p:cNvSpPr txBox="1"/>
          <p:nvPr/>
        </p:nvSpPr>
        <p:spPr>
          <a:xfrm>
            <a:off x="411480" y="3364992"/>
            <a:ext cx="11338560" cy="502920"/>
          </a:xfrm>
          <a:prstGeom prst="rect">
            <a:avLst/>
          </a:prstGeom>
          <a:noFill/>
        </p:spPr>
        <p:txBody>
          <a:bodyPr wrap="square">
            <a:spAutoFit/>
          </a:bodyPr>
          <a:lstStyle/>
          <a:p>
            <a:pPr algn="l"/>
            <a:r>
              <a:rPr sz="1300" b="0">
                <a:solidFill>
                  <a:srgbClr val="0D1A33"/>
                </a:solidFill>
              </a:rPr>
              <a:t>It tells you the type of club you're dealing with. It does not tell you where the club is going commercially.</a:t>
            </a:r>
          </a:p>
        </p:txBody>
      </p:sp>
      <p:sp>
        <p:nvSpPr>
          <p:cNvPr id="13" name="TextBox 12"/>
          <p:cNvSpPr txBox="1"/>
          <p:nvPr/>
        </p:nvSpPr>
        <p:spPr>
          <a:xfrm>
            <a:off x="411480" y="3977639"/>
            <a:ext cx="10972800" cy="347472"/>
          </a:xfrm>
          <a:prstGeom prst="rect">
            <a:avLst/>
          </a:prstGeom>
          <a:noFill/>
        </p:spPr>
        <p:txBody>
          <a:bodyPr wrap="square">
            <a:spAutoFit/>
          </a:bodyPr>
          <a:lstStyle/>
          <a:p>
            <a:pPr algn="l"/>
            <a:r>
              <a:rPr sz="1200" b="1">
                <a:solidFill>
                  <a:srgbClr val="1D428A"/>
                </a:solidFill>
              </a:rPr>
              <a:t>TAKEAWAYS</a:t>
            </a:r>
          </a:p>
        </p:txBody>
      </p:sp>
      <p:sp>
        <p:nvSpPr>
          <p:cNvPr id="14" name="TextBox 13"/>
          <p:cNvSpPr txBox="1"/>
          <p:nvPr/>
        </p:nvSpPr>
        <p:spPr>
          <a:xfrm>
            <a:off x="411480" y="4389120"/>
            <a:ext cx="640080" cy="502920"/>
          </a:xfrm>
          <a:prstGeom prst="rect">
            <a:avLst/>
          </a:prstGeom>
          <a:noFill/>
        </p:spPr>
        <p:txBody>
          <a:bodyPr wrap="square">
            <a:spAutoFit/>
          </a:bodyPr>
          <a:lstStyle/>
          <a:p>
            <a:pPr algn="l"/>
            <a:r>
              <a:rPr sz="3000" b="1">
                <a:solidFill>
                  <a:srgbClr val="C8102E"/>
                </a:solidFill>
              </a:rPr>
              <a:t>01</a:t>
            </a:r>
          </a:p>
        </p:txBody>
      </p:sp>
      <p:sp>
        <p:nvSpPr>
          <p:cNvPr id="15" name="TextBox 14"/>
          <p:cNvSpPr txBox="1"/>
          <p:nvPr/>
        </p:nvSpPr>
        <p:spPr>
          <a:xfrm>
            <a:off x="1097280" y="4407407"/>
            <a:ext cx="10287000" cy="347472"/>
          </a:xfrm>
          <a:prstGeom prst="rect">
            <a:avLst/>
          </a:prstGeom>
          <a:noFill/>
        </p:spPr>
        <p:txBody>
          <a:bodyPr wrap="square">
            <a:spAutoFit/>
          </a:bodyPr>
          <a:lstStyle/>
          <a:p>
            <a:pPr algn="l"/>
            <a:r>
              <a:rPr sz="1300" b="1">
                <a:solidFill>
                  <a:srgbClr val="0D1A33"/>
                </a:solidFill>
              </a:rPr>
              <a:t>Press and fan narratives carry complementary — not redundant — information</a:t>
            </a:r>
          </a:p>
        </p:txBody>
      </p:sp>
      <p:sp>
        <p:nvSpPr>
          <p:cNvPr id="16" name="TextBox 15"/>
          <p:cNvSpPr txBox="1"/>
          <p:nvPr/>
        </p:nvSpPr>
        <p:spPr>
          <a:xfrm>
            <a:off x="1097280" y="4773168"/>
            <a:ext cx="10287000" cy="457200"/>
          </a:xfrm>
          <a:prstGeom prst="rect">
            <a:avLst/>
          </a:prstGeom>
          <a:noFill/>
        </p:spPr>
        <p:txBody>
          <a:bodyPr wrap="square">
            <a:spAutoFit/>
          </a:bodyPr>
          <a:lstStyle/>
          <a:p>
            <a:pPr algn="l"/>
            <a:r>
              <a:rPr sz="1200" b="0">
                <a:solidFill>
                  <a:srgbClr val="445577"/>
                </a:solidFill>
              </a:rPr>
              <a:t>Each channel reflects a different reality. Combining them gives a fuller picture than either alone.</a:t>
            </a:r>
          </a:p>
        </p:txBody>
      </p:sp>
      <p:sp>
        <p:nvSpPr>
          <p:cNvPr id="17" name="TextBox 16"/>
          <p:cNvSpPr txBox="1"/>
          <p:nvPr/>
        </p:nvSpPr>
        <p:spPr>
          <a:xfrm>
            <a:off x="411480" y="5349240"/>
            <a:ext cx="640080" cy="502920"/>
          </a:xfrm>
          <a:prstGeom prst="rect">
            <a:avLst/>
          </a:prstGeom>
          <a:noFill/>
        </p:spPr>
        <p:txBody>
          <a:bodyPr wrap="square">
            <a:spAutoFit/>
          </a:bodyPr>
          <a:lstStyle/>
          <a:p>
            <a:pPr algn="l"/>
            <a:r>
              <a:rPr sz="3000" b="1">
                <a:solidFill>
                  <a:srgbClr val="C8102E"/>
                </a:solidFill>
              </a:rPr>
              <a:t>02</a:t>
            </a:r>
          </a:p>
        </p:txBody>
      </p:sp>
      <p:sp>
        <p:nvSpPr>
          <p:cNvPr id="18" name="TextBox 17"/>
          <p:cNvSpPr txBox="1"/>
          <p:nvPr/>
        </p:nvSpPr>
        <p:spPr>
          <a:xfrm>
            <a:off x="1097280" y="5367527"/>
            <a:ext cx="10287000" cy="347472"/>
          </a:xfrm>
          <a:prstGeom prst="rect">
            <a:avLst/>
          </a:prstGeom>
          <a:noFill/>
        </p:spPr>
        <p:txBody>
          <a:bodyPr wrap="square">
            <a:spAutoFit/>
          </a:bodyPr>
          <a:lstStyle/>
          <a:p>
            <a:pPr algn="l"/>
            <a:r>
              <a:rPr sz="1300" b="1">
                <a:solidFill>
                  <a:srgbClr val="0D1A33"/>
                </a:solidFill>
              </a:rPr>
              <a:t>Institutional inertia is real and slow to correct</a:t>
            </a:r>
          </a:p>
        </p:txBody>
      </p:sp>
      <p:sp>
        <p:nvSpPr>
          <p:cNvPr id="19" name="TextBox 18"/>
          <p:cNvSpPr txBox="1"/>
          <p:nvPr/>
        </p:nvSpPr>
        <p:spPr>
          <a:xfrm>
            <a:off x="1097280" y="5733288"/>
            <a:ext cx="10287000" cy="457200"/>
          </a:xfrm>
          <a:prstGeom prst="rect">
            <a:avLst/>
          </a:prstGeom>
          <a:noFill/>
        </p:spPr>
        <p:txBody>
          <a:bodyPr wrap="square">
            <a:spAutoFit/>
          </a:bodyPr>
          <a:lstStyle/>
          <a:p>
            <a:pPr algn="l"/>
            <a:r>
              <a:rPr sz="1200" b="0">
                <a:solidFill>
                  <a:srgbClr val="445577"/>
                </a:solidFill>
              </a:rPr>
              <a:t>Toronto FC: top-6 press coverage for 5 years of non-playoff finishes. The market corrects, but slowly.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74320" cy="6858000"/>
          </a:xfrm>
          <a:prstGeom prst="rect">
            <a:avLst/>
          </a:prstGeom>
          <a:solidFill>
            <a:srgbClr val="22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10972800" cy="640080"/>
          </a:xfrm>
          <a:prstGeom prst="rect">
            <a:avLst/>
          </a:prstGeom>
          <a:noFill/>
        </p:spPr>
        <p:txBody>
          <a:bodyPr wrap="square">
            <a:spAutoFit/>
          </a:bodyPr>
          <a:lstStyle/>
          <a:p>
            <a:pPr algn="l"/>
            <a:r>
              <a:rPr sz="3400" b="1">
                <a:solidFill>
                  <a:srgbClr val="FFFFFF"/>
                </a:solidFill>
              </a:rPr>
              <a:t>The Bottom Line</a:t>
            </a:r>
          </a:p>
        </p:txBody>
      </p:sp>
      <p:sp>
        <p:nvSpPr>
          <p:cNvPr id="5" name="TextBox 4"/>
          <p:cNvSpPr txBox="1"/>
          <p:nvPr/>
        </p:nvSpPr>
        <p:spPr>
          <a:xfrm>
            <a:off x="502920" y="1280160"/>
            <a:ext cx="10515600" cy="1645920"/>
          </a:xfrm>
          <a:prstGeom prst="rect">
            <a:avLst/>
          </a:prstGeom>
          <a:noFill/>
        </p:spPr>
        <p:txBody>
          <a:bodyPr wrap="square">
            <a:spAutoFit/>
          </a:bodyPr>
          <a:lstStyle/>
          <a:p>
            <a:pPr algn="l"/>
            <a:r>
              <a:rPr sz="1800" b="0">
                <a:solidFill>
                  <a:srgbClr val="BBCCFF"/>
                </a:solidFill>
              </a:rPr>
              <a:t>Press and Reddit in MLS are two different information systems.
Press tracks legacy and institutional reputation. Reddit tracks current reality.
The gap between them tells you what kind of club you're looking at.</a:t>
            </a:r>
          </a:p>
        </p:txBody>
      </p:sp>
      <p:sp>
        <p:nvSpPr>
          <p:cNvPr id="6" name="TextBox 5"/>
          <p:cNvSpPr txBox="1"/>
          <p:nvPr/>
        </p:nvSpPr>
        <p:spPr>
          <a:xfrm>
            <a:off x="502920" y="3108960"/>
            <a:ext cx="3474720" cy="365760"/>
          </a:xfrm>
          <a:prstGeom prst="rect">
            <a:avLst/>
          </a:prstGeom>
          <a:noFill/>
        </p:spPr>
        <p:txBody>
          <a:bodyPr wrap="square">
            <a:spAutoFit/>
          </a:bodyPr>
          <a:lstStyle/>
          <a:p>
            <a:pPr algn="l"/>
            <a:r>
              <a:rPr sz="1600" b="1">
                <a:solidFill>
                  <a:srgbClr val="44AA66"/>
                </a:solidFill>
              </a:rPr>
              <a:t>For Practitioners</a:t>
            </a:r>
          </a:p>
        </p:txBody>
      </p:sp>
      <p:sp>
        <p:nvSpPr>
          <p:cNvPr id="7" name="TextBox 6"/>
          <p:cNvSpPr txBox="1"/>
          <p:nvPr/>
        </p:nvSpPr>
        <p:spPr>
          <a:xfrm>
            <a:off x="502920" y="3520440"/>
            <a:ext cx="3474720" cy="1280160"/>
          </a:xfrm>
          <a:prstGeom prst="rect">
            <a:avLst/>
          </a:prstGeom>
          <a:noFill/>
        </p:spPr>
        <p:txBody>
          <a:bodyPr wrap="square">
            <a:spAutoFit/>
          </a:bodyPr>
          <a:lstStyle/>
          <a:p>
            <a:pPr algn="l"/>
            <a:r>
              <a:rPr sz="1200" b="0">
                <a:solidFill>
                  <a:srgbClr val="AABBCC"/>
                </a:solidFill>
              </a:rPr>
              <a:t>Press narrative is manageable via media relations. Reddit is a diagnostic — it tells you what fans actually think.</a:t>
            </a:r>
          </a:p>
        </p:txBody>
      </p:sp>
      <p:sp>
        <p:nvSpPr>
          <p:cNvPr id="8" name="TextBox 7"/>
          <p:cNvSpPr txBox="1"/>
          <p:nvPr/>
        </p:nvSpPr>
        <p:spPr>
          <a:xfrm>
            <a:off x="4251960" y="3108960"/>
            <a:ext cx="3474720" cy="365760"/>
          </a:xfrm>
          <a:prstGeom prst="rect">
            <a:avLst/>
          </a:prstGeom>
          <a:noFill/>
        </p:spPr>
        <p:txBody>
          <a:bodyPr wrap="square">
            <a:spAutoFit/>
          </a:bodyPr>
          <a:lstStyle/>
          <a:p>
            <a:pPr algn="l"/>
            <a:r>
              <a:rPr sz="1600" b="1">
                <a:solidFill>
                  <a:srgbClr val="44AA66"/>
                </a:solidFill>
              </a:rPr>
              <a:t>For Researchers</a:t>
            </a:r>
          </a:p>
        </p:txBody>
      </p:sp>
      <p:sp>
        <p:nvSpPr>
          <p:cNvPr id="9" name="TextBox 8"/>
          <p:cNvSpPr txBox="1"/>
          <p:nvPr/>
        </p:nvSpPr>
        <p:spPr>
          <a:xfrm>
            <a:off x="4251960" y="3520440"/>
            <a:ext cx="3474720" cy="1280160"/>
          </a:xfrm>
          <a:prstGeom prst="rect">
            <a:avLst/>
          </a:prstGeom>
          <a:noFill/>
        </p:spPr>
        <p:txBody>
          <a:bodyPr wrap="square">
            <a:spAutoFit/>
          </a:bodyPr>
          <a:lstStyle/>
          <a:p>
            <a:pPr algn="l"/>
            <a:r>
              <a:rPr sz="1200" b="0">
                <a:solidFill>
                  <a:srgbClr val="AABBCC"/>
                </a:solidFill>
              </a:rPr>
              <a:t>Network-based divergence measures offer a structural way to compare institutional and fan discourse at scale.</a:t>
            </a:r>
          </a:p>
        </p:txBody>
      </p:sp>
      <p:sp>
        <p:nvSpPr>
          <p:cNvPr id="10" name="TextBox 9"/>
          <p:cNvSpPr txBox="1"/>
          <p:nvPr/>
        </p:nvSpPr>
        <p:spPr>
          <a:xfrm>
            <a:off x="8001000" y="3108960"/>
            <a:ext cx="3474720" cy="365760"/>
          </a:xfrm>
          <a:prstGeom prst="rect">
            <a:avLst/>
          </a:prstGeom>
          <a:noFill/>
        </p:spPr>
        <p:txBody>
          <a:bodyPr wrap="square">
            <a:spAutoFit/>
          </a:bodyPr>
          <a:lstStyle/>
          <a:p>
            <a:pPr algn="l"/>
            <a:r>
              <a:rPr sz="1600" b="1">
                <a:solidFill>
                  <a:srgbClr val="44AA66"/>
                </a:solidFill>
              </a:rPr>
              <a:t>For Future Work</a:t>
            </a:r>
          </a:p>
        </p:txBody>
      </p:sp>
      <p:sp>
        <p:nvSpPr>
          <p:cNvPr id="11" name="TextBox 10"/>
          <p:cNvSpPr txBox="1"/>
          <p:nvPr/>
        </p:nvSpPr>
        <p:spPr>
          <a:xfrm>
            <a:off x="8001000" y="3520440"/>
            <a:ext cx="3474720" cy="1280160"/>
          </a:xfrm>
          <a:prstGeom prst="rect">
            <a:avLst/>
          </a:prstGeom>
          <a:noFill/>
        </p:spPr>
        <p:txBody>
          <a:bodyPr wrap="square">
            <a:spAutoFit/>
          </a:bodyPr>
          <a:lstStyle/>
          <a:p>
            <a:pPr algn="l"/>
            <a:r>
              <a:rPr sz="1200" b="0">
                <a:solidFill>
                  <a:srgbClr val="AABBCC"/>
                </a:solidFill>
              </a:rPr>
              <a:t>Use the monthly series (N=84) for Granger testing. Include r/cfmontreal. Apply to NWSL and PWHL.</a:t>
            </a:r>
          </a:p>
        </p:txBody>
      </p:sp>
      <p:sp>
        <p:nvSpPr>
          <p:cNvPr id="12" name="Rectangle 11"/>
          <p:cNvSpPr/>
          <p:nvPr/>
        </p:nvSpPr>
        <p:spPr>
          <a:xfrm>
            <a:off x="0" y="6556248"/>
            <a:ext cx="12188952" cy="301752"/>
          </a:xfrm>
          <a:prstGeom prst="rect">
            <a:avLst/>
          </a:prstGeom>
          <a:solidFill>
            <a:srgbClr val="0D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6574536"/>
            <a:ext cx="11795760" cy="256032"/>
          </a:xfrm>
          <a:prstGeom prst="rect">
            <a:avLst/>
          </a:prstGeom>
          <a:noFill/>
        </p:spPr>
        <p:txBody>
          <a:bodyPr wrap="square">
            <a:spAutoFit/>
          </a:bodyPr>
          <a:lstStyle/>
          <a:p>
            <a:pPr algn="l"/>
            <a:r>
              <a:rPr sz="800" b="0">
                <a:solidFill>
                  <a:srgbClr val="BBCCFF"/>
                </a:solidFill>
              </a:rPr>
              <a:t>MLS NLP Project  ·  Dante  ·  Wilson  ·  Faisal  ·  Fidel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1060</Words>
  <Application>Microsoft Macintosh PowerPoint</Application>
  <PresentationFormat>Custom</PresentationFormat>
  <Paragraphs>118</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Shoghanian, Dante</cp:lastModifiedBy>
  <cp:revision>3</cp:revision>
  <dcterms:created xsi:type="dcterms:W3CDTF">2013-01-27T09:14:16Z</dcterms:created>
  <dcterms:modified xsi:type="dcterms:W3CDTF">2026-05-04T22:07:24Z</dcterms:modified>
  <cp:category/>
</cp:coreProperties>
</file>
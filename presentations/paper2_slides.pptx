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</a:rPr>
              <a:t>EARNED 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D1A33"/>
                </a:solidFill>
              </a:rPr>
              <a:t>&amp; Commercial Returns
in Major League Soccer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45577"/>
                </a:solidFill>
              </a:rPr>
              <a:t>Evidence from Press Network Centrality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83280"/>
            <a:ext cx="246888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4564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+21.9%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330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Valuation premium
per 1 SD narrative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3383280"/>
            <a:ext cx="246888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34564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+18.9%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1330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Revenue premium
per 1 SD narrative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3383280"/>
            <a:ext cx="246888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79" y="34564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0.629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41330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Model R²
(valuation, year FE)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3383280"/>
            <a:ext cx="246888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4564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n.s.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1330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On-field points
(not significant)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77"/>
                </a:solidFill>
              </a:rPr>
              <a:t>Shoghanian &amp; Tang  ·  Target: Sport Marketing Quarterly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The Commercial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MLS club valuations vary by 10× — but the salary cap deliberately compresses on-field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A33"/>
                </a:solidFill>
              </a:rPr>
              <a:t>If every team plays under the same financial constraints, why are some clubs worth ten times more than others?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423160"/>
            <a:ext cx="3566160" cy="210312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45577"/>
                </a:solidFill>
              </a:rPr>
              <a:t>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28A"/>
                </a:solidFill>
              </a:rPr>
              <a:t>Narrative Capital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77"/>
                </a:solidFill>
              </a:rPr>
              <a:t>A club's structural position in the press co-occurrence network = earned media capital that signals value to sponsors, players, and investors.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423160"/>
            <a:ext cx="3566160" cy="210312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532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45577"/>
                </a:solidFill>
              </a:rPr>
              <a:t>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0175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28A"/>
                </a:solidFill>
              </a:rPr>
              <a:t>Commercial Outcomes We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3832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77"/>
                </a:solidFill>
              </a:rPr>
              <a:t>Club valuation (Forbes), annual revenue (Forbes), jersey sponsorship deal value, and total player payroll (MLSPA).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2423160"/>
            <a:ext cx="3840480" cy="210312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532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45577"/>
                </a:solidFill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175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28A"/>
                </a:solidFill>
              </a:rPr>
              <a:t>The Core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3832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77"/>
                </a:solidFill>
              </a:rPr>
              <a:t>Narrative centrality predicts commercial value independently of points, attendance, and market size. Narrative is a measurable asset.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72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28A"/>
                </a:solidFill>
              </a:rPr>
              <a:t>THREE CONTRIBUTIONS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956048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1.  First network-based NLP analysis of MLS press coverage spanning 2018–2024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2.  Demonstrate narrative centrality predicts valuation, revenue, and payroll independently of performance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3.  Document an asymmetry between press and Reddit — each channel carries distinct commercial signals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186 club-season observations across 29 clubs and 7 seasons (2018–2024)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2743200" cy="196596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A33"/>
                </a:solidFill>
              </a:rPr>
              <a:t>📰 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7,236 articles
co-occurrence NLP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1508760"/>
            <a:ext cx="2743200" cy="196596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6459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A33"/>
                </a:solidFill>
              </a:rPr>
              <a:t>💬 Reddit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148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28 subreddits
club co-mentions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1508760"/>
            <a:ext cx="2743200" cy="196596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6459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A33"/>
                </a:solidFill>
              </a:rPr>
              <a:t>💰 Valuations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148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Forbes MLS
164 obs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4584" y="1508760"/>
            <a:ext cx="2743200" cy="196596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16459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A33"/>
                </a:solidFill>
              </a:rPr>
              <a:t>📈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4" y="2148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Forbes MLS
164 obs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703320"/>
            <a:ext cx="2743200" cy="196596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A33"/>
                </a:solidFill>
              </a:rPr>
              <a:t>💼 Payroll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4340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MLSPA 2018–24
(excl. 2020)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5848" y="3703320"/>
            <a:ext cx="2743200" cy="196596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3008" y="3840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A33"/>
                </a:solidFill>
              </a:rPr>
              <a:t>🏷️ Sponsors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434340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Jersey deals
from announcements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216" y="3703320"/>
            <a:ext cx="2743200" cy="196596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840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A33"/>
                </a:solidFill>
              </a:rPr>
              <a:t>⚽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34340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Official MLS
+ ASA xGoals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Empirical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OLS regression with year fixed effects and HC1 robust standard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38560" cy="1463040"/>
          </a:xfrm>
          <a:prstGeom prst="rect">
            <a:avLst/>
          </a:prstGeom>
          <a:solidFill>
            <a:srgbClr val="F0F3F9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1A33"/>
                </a:solidFill>
              </a:rPr>
              <a:t>log(Y) = α  +  β₁·press_strength_z  +  β₂·press/reddit_ratio
             +  β₃·sentiment_gap  +  β₄·press_net_momentum
             +  γ·[points, log-attendance, conference]  +  δ_year  +  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154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28A"/>
                </a:solidFill>
              </a:rPr>
              <a:t>FOUR OUTCOME 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520440"/>
            <a:ext cx="2743200" cy="25603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102E"/>
                </a:solidFill>
              </a:rPr>
              <a:t>C1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log(Valuation)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53712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FF"/>
                </a:solidFill>
              </a:rPr>
              <a:t>Forbes club 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3520440"/>
            <a:ext cx="2743200" cy="25603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3639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102E"/>
                </a:solidFill>
              </a:rPr>
              <a:t>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41148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log(Revenue)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4553712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FF"/>
                </a:solidFill>
              </a:rPr>
              <a:t>Annual club revenue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216" y="3520440"/>
            <a:ext cx="2743200" cy="25603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3639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102E"/>
                </a:solidFill>
              </a:rPr>
              <a:t>C3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1148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Sponsor Deal $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553712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FF"/>
                </a:solidFill>
              </a:rPr>
              <a:t>Jersey deal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44584" y="3520440"/>
            <a:ext cx="2743200" cy="25603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4" y="3639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102E"/>
                </a:solidFill>
              </a:rPr>
              <a:t>C4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41148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log(Payroll)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4553712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FF"/>
                </a:solidFill>
              </a:rPr>
              <a:t>Total player payroll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Finding 1: Narrative Drives Valuation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A 1 SD increase in press network strength is associated with 21.9% higher club valuations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274320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819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0.198***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58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press_strength_z β
C1: log(valuation)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508760"/>
            <a:ext cx="274320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819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+21.9%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58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Valuation premium
per 1 SD narrative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508760"/>
            <a:ext cx="274320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819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0.173***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58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press_strength_z β
C2: log(revenue)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508760"/>
            <a:ext cx="265176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58191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n.s.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5856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Points coefficient
(not significant)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017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28A"/>
                </a:solidFill>
              </a:rPr>
              <a:t>WHAT THE TABLE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401568"/>
            <a:ext cx="11338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Moving from 25th to 75th percentile in narrative centrality ≈ $83M valuation premium at the sample mean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Points are NOT significant once narrative and attendance are controlled — winning doesn't drive value here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Attendance (β=0.142, p=.008) and Eastern Conference (β=0.108, p=.024) are significant controls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press_net_momentum is NEGATIVE (β=−0.031, p=.012) — ascending clubs are smaller and lower-valued today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C3 (sponsor deals): directional positive but only marginal (p=.068) — long contracting cycles reduce sensitivity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Finding 2: Narrative Shapes Investment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Clubs with more press coverage AND more fan engagement both attract higher payrolls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356616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81912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0.163***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58568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press_strength_z β
C4: log(payroll)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508760"/>
            <a:ext cx="356616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581912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−0.079**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258568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press/reddit ratio β
(negative = fan-driven)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508760"/>
            <a:ext cx="356616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581912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0.538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258568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Model R²
(payroll model)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017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28A"/>
                </a:solidFill>
              </a:rPr>
              <a:t>THE ASYMMETRY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401568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A33"/>
                </a:solidFill>
              </a:rPr>
              <a:t>press_strength_z is positive: more press coverage → higher payroll
press_to_reddit_ratio is negative: more fan-driven narrative (Reddit-heavy clubs) → also higher payroll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4348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28A"/>
                </a:solidFill>
              </a:rPr>
              <a:t>WHAT THIS 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18888"/>
            <a:ext cx="11338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Organic fan engagement signals market depth to ownership — independent of what the press is saying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Press coverage can reflect institutional inertia (Toronto's 2017 treble still generating headlines in 2024)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Reddit is harder to manufacture — it reflects real current fan enthusiasm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Implication: narrative REACH (press) drives external valuations; narrative AUTHENTICITY (fans) drives investment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Robustness — and an Honest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The model works well pre-2022 but degrades sharply after — and that degradation tells us something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508760" cy="1188720"/>
          </a:xfrm>
          <a:prstGeom prst="rect">
            <a:avLst/>
          </a:prstGeom>
          <a:solidFill>
            <a:srgbClr val="155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0.888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2018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39112" y="1508760"/>
            <a:ext cx="1508760" cy="1188720"/>
          </a:xfrm>
          <a:prstGeom prst="rect">
            <a:avLst/>
          </a:prstGeom>
          <a:solidFill>
            <a:srgbClr val="155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1572768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0.916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21488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2019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66744" y="1508760"/>
            <a:ext cx="1508760" cy="1188720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3" y="1572768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0.343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3" y="21488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2020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4376" y="1508760"/>
            <a:ext cx="1508760" cy="1188720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85816" y="1572768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0.203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1488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2021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1508760"/>
            <a:ext cx="1508760" cy="1188720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8" y="1572768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−0.774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21488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2022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1508760"/>
            <a:ext cx="1508760" cy="1188720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1572768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−2.116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1488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2023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77272" y="1508760"/>
            <a:ext cx="1508760" cy="1188720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1" y="1572768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−4.273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8711" y="21488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2880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28A"/>
                </a:solidFill>
              </a:rPr>
              <a:t>WHY THE MODEL BREAKS AFTER 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264408"/>
            <a:ext cx="11338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2022+: MLS expansion fees hit $200M+, new broadcast rights, Messi arrives at Inter Miami in 2023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League-wide valuation inflation means every club's value jumped — compressing the cross-sectional variance the model uses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This is a limitation WITH informational content: it signals a commercial regime change in MLS post-2021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The core finding (narrative → valuation) is robustly significant within-sample across all seven years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Future models should include a post-2021 structural break indicator or re-estimate from 2022 forward separately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Four commercial insights from seven seasons of MLS press network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27048"/>
            <a:ext cx="10287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A33"/>
                </a:solidFill>
              </a:rPr>
              <a:t>Press narrative centrality predicts valuation and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92807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+21.9% valuation and +18.9% revenue per 1 SD increase, independent of on-field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688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10287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A33"/>
                </a:solidFill>
              </a:rPr>
              <a:t>Points don't drive commercial value — narrative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5292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Points coefficient is non-significant once narrative and attendance are controlled.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290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47288"/>
            <a:ext cx="10287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A33"/>
                </a:solidFill>
              </a:rPr>
              <a:t>Fan engagement (Reddit) carries independent investment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1304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Clubs with more fan-driven narrative attract higher payrolls — organic engagement signals market depth.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3891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07407"/>
            <a:ext cx="10287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A33"/>
                </a:solidFill>
              </a:rPr>
              <a:t>The model breaks post-2021 — and that's informative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7316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Messi, expansion fees, and broadcast deals created a commercial regime change. Historical relationships shifted.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BCCFF"/>
                </a:solidFill>
              </a:rPr>
              <a:t>In a salary-capped league where winning is structurally compressed,
narrative management is not just reputational — it's financially material.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</a:rPr>
              <a:t>For Club Executives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Sustained press presence — not just winning — constitutes a strategic asset worth managing deliberately.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</a:rPr>
              <a:t>For Sport Marketers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33375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Narrative reach and narrative authenticity matter differently. Press drives valuation; fans drive investment.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</a:rPr>
              <a:t>For Future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3375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Replicate in NFL, NBA, NWSL. Test whether press narrative mediates fan engagement or operates independently.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